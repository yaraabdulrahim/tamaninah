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32.xml" ContentType="application/vnd.openxmlformats-officedocument.presentationml.slide+xml"/>
  <Override PartName="/ppt/slides/slide33.xml" ContentType="application/vnd.openxmlformats-officedocument.presentationml.slide+xml"/>
  <Override PartName="/ppt/notesSlides/notesSlide32.xml" ContentType="application/vnd.openxmlformats-officedocument.presentationml.notesSlide+xml"/>
  <Override PartName="/ppt/notesSlides/notesSlide3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63" r:id="rId9"/>
    <p:sldId id="266" r:id="rId12"/>
    <p:sldId id="269" r:id="rId15"/>
    <p:sldId id="279" r:id="rId25"/>
    <p:sldId id="283" r:id="rId29"/>
    <p:sldId id="272" r:id="rId18"/>
    <p:sldId id="281" r:id="rId27"/>
    <p:sldId id="268" r:id="rId14"/>
    <p:sldId id="276" r:id="rId22"/>
    <p:sldId id="270" r:id="rId16"/>
    <p:sldId id="287" r:id="rId54"/>
    <p:sldId id="275" r:id="rId21"/>
    <p:sldId id="282" r:id="rId28"/>
    <p:sldId id="273" r:id="rId19"/>
    <p:sldId id="288" r:id="rId55"/>
    <p:sldId id="286" r:id="rId32"/>
  </p:sldIdLst>
  <p:sldSz cx="18288000" cy="10287000"/>
  <p:notesSz cx="6858000" cy="9144000"/>
  <p:embeddedFontLst>
    <p:embeddedFont>
      <p:font typeface="Readex Pro" panose="020B0604020202020204" charset="-78"/>
      <p:regular r:id="rId34"/>
      <p:bold r:id="rId35"/>
    </p:embeddedFont>
    <p:embeddedFont>
      <p:font typeface="Readex Pro Light" panose="020B0604020202020204" charset="-78"/>
      <p:regular r:id="rId36"/>
      <p:bold r:id="rId37"/>
    </p:embeddedFont>
    <p:embeddedFont>
      <p:font typeface="Readex Pro Medium" panose="020B0604020202020204" charset="-78"/>
      <p:regular r:id="rId38"/>
      <p:bold r:id="rId39"/>
    </p:embeddedFont>
    <p:embeddedFont>
      <p:font typeface="Readex Pro SemiBold" panose="020B0604020202020204" charset="-78"/>
      <p:regular r:id="rId40"/>
      <p:bold r:id="rId41"/>
    </p:embeddedFont>
    <p:embeddedFont>
      <p:font typeface="Urbanist"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ED9858-D163-4338-9E88-1F424354888F}">
  <a:tblStyle styleId="{B8ED9858-D163-4338-9E88-1F424354888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1092" y="28"/>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8" Type="http://schemas.openxmlformats.org/officeDocument/2006/relationships/slide" Target="slides/slide17.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50" Type="http://schemas.openxmlformats.org/officeDocument/2006/relationships/presProps" Target="presProps.xml"/><Relationship Id="rId16" Type="http://schemas.openxmlformats.org/officeDocument/2006/relationships/slide" Target="slides/slide15.xml"/><Relationship Id="rId29" Type="http://schemas.openxmlformats.org/officeDocument/2006/relationships/slide" Target="slides/slide28.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15" Type="http://schemas.openxmlformats.org/officeDocument/2006/relationships/slide" Target="slides/slide14.xml"/><Relationship Id="rId28" Type="http://schemas.openxmlformats.org/officeDocument/2006/relationships/slide" Target="slides/slide27.xml"/><Relationship Id="rId36" Type="http://schemas.openxmlformats.org/officeDocument/2006/relationships/font" Target="fonts/font3.fntdata"/><Relationship Id="rId49" Type="http://customschemas.google.com/relationships/presentationmetadata" Target="metadata"/><Relationship Id="rId19" Type="http://schemas.openxmlformats.org/officeDocument/2006/relationships/slide" Target="slides/slide18.xml"/><Relationship Id="rId44" Type="http://schemas.openxmlformats.org/officeDocument/2006/relationships/font" Target="fonts/font11.fntdata"/><Relationship Id="rId52" Type="http://schemas.openxmlformats.org/officeDocument/2006/relationships/theme" Target="theme/theme1.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51" Type="http://schemas.openxmlformats.org/officeDocument/2006/relationships/viewProps" Target="viewProps.xml"/><Relationship Id="rId12" Type="http://schemas.openxmlformats.org/officeDocument/2006/relationships/slide" Target="slides/slide11.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1" Type="http://schemas.openxmlformats.org/officeDocument/2006/relationships/font" Target="fonts/font8.fntdata"/><Relationship Id="rId1" Type="http://schemas.openxmlformats.org/officeDocument/2006/relationships/slideMaster" Target="slideMasters/slideMaster1.xml"/>  <Relationship Id="rId54" Type="http://schemas.openxmlformats.org/officeDocument/2006/relationships/slide" Target="slides/slide32.xml"/>
  <Relationship Id="rId55" Type="http://schemas.openxmlformats.org/officeDocument/2006/relationships/slide" Target="slides/slide3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طمأنينة منصة ويب عربية أولًا (مع الإنجليزية) لمن يريد أن يتعرّف على الإسلام أو يتعلّم عنه دون أن يعرف اسم الموضوع أو من أين يبدأ.</a:t>
            </a:r>
            <a:endParaRPr/>
          </a:p>
          <a:p>
            <a:pPr marL="0" lvl="0" indent="0" algn="l" rtl="0">
              <a:spcBef>
                <a:spcPts val="0"/>
              </a:spcBef>
              <a:spcAft>
                <a:spcPts val="0"/>
              </a:spcAft>
              <a:buNone/>
            </a:pPr>
            <a:r>
              <a:rPr lang="ar-SA" sz="1200"/>
              <a:t>الفكرة في جملة: من تجربة تعيشها… إلى معرفة تكتشفها.</a:t>
            </a:r>
            <a:endParaRPr/>
          </a:p>
        </p:txBody>
      </p:sp>
      <p:sp>
        <p:nvSpPr>
          <p:cNvPr id="482" name="Google Shape;482;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3" name="Google Shape;533;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المستخدم: مسلمون، عائدون إلى التعلّم، فضوليون، وغير مسلمين يريدون فهم الإسلام.</a:t>
            </a:r>
            <a:endParaRPr/>
          </a:p>
          <a:p>
            <a:pPr marL="0" lvl="0" indent="0" algn="l" rtl="0">
              <a:spcBef>
                <a:spcPts val="0"/>
              </a:spcBef>
              <a:spcAft>
                <a:spcPts val="0"/>
              </a:spcAft>
              <a:buNone/>
            </a:pPr>
            <a:r>
              <a:rPr lang="ar-SA" sz="1200"/>
              <a:t>يأتون بشعور أو سؤال أو تجربة، لا بمصطلح أو منهج.</a:t>
            </a:r>
            <a:endParaRPr/>
          </a:p>
          <a:p>
            <a:pPr marL="0" lvl="0" indent="0" algn="l" rtl="0">
              <a:spcBef>
                <a:spcPts val="0"/>
              </a:spcBef>
              <a:spcAft>
                <a:spcPts val="0"/>
              </a:spcAft>
              <a:buNone/>
            </a:pPr>
            <a:r>
              <a:rPr lang="ar-SA" sz="1200"/>
              <a:t>المواقع الإسلامية تفترض أنك تعرف ما تبحث عنه، وروبوتات المحادثة العامة قد تولّد نصًا شرعيًا بلا مصدر.</a:t>
            </a:r>
            <a:endParaRPr/>
          </a:p>
        </p:txBody>
      </p:sp>
      <p:sp>
        <p:nvSpPr>
          <p:cNvPr id="534" name="Google Shape;534;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7" name="Google Shape;567;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الرحلة تُكشف على مراحل: كلام المستخدم، ثم آية تُضاء عبارتها، ثم ماذا نفهم منها من تفسير الطبري، ثم حديث صحيح، ثم موقف عاشه النبي ﷺ من السيرة، ثم «لتتعلّم أكثر» من موسوعة الجمهرة عند الطلب، ثم ربط بما يعيشه وخطوة بسيطة، ثم مساحة خاصة لدعائه لا تُرسل ولا تُحفظ.</a:t>
            </a:r>
            <a:endParaRPr/>
          </a:p>
          <a:p>
            <a:pPr marL="0" lvl="0" indent="0" algn="l" rtl="0">
              <a:spcBef>
                <a:spcPts val="0"/>
              </a:spcBef>
              <a:spcAft>
                <a:spcPts val="0"/>
              </a:spcAft>
              <a:buNone/>
            </a:pPr>
            <a:r>
              <a:rPr lang="ar-SA" sz="1200"/>
              <a:t>عبارات الربط بين المراحل كتبها الفريق لكل موضوع، وليست من النموذج.</a:t>
            </a:r>
            <a:endParaRPr/>
          </a:p>
          <a:p>
            <a:pPr marL="0" lvl="0" indent="0" algn="l" rtl="0">
              <a:spcBef>
                <a:spcPts val="0"/>
              </a:spcBef>
              <a:spcAft>
                <a:spcPts val="0"/>
              </a:spcAft>
              <a:buNone/>
            </a:pPr>
            <a:r>
              <a:rPr lang="ar-SA" sz="1200"/>
              <a:t>الإتاحة: عربية من اليمين إلى اليسار وإنجليزية موازية، واختبارات طرفية للجوال بعرض 360 و390، واحترام إعداد تقليل الحركة، وفحوص للأسماء المتاحة لقارئ الشاشة والتركيز.</a:t>
            </a:r>
            <a:endParaRPr/>
          </a:p>
        </p:txBody>
      </p:sp>
      <p:sp>
        <p:nvSpPr>
          <p:cNvPr id="568" name="Google Shape;568;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3" name="Google Shape;583;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يكتب الإنسان ما يشغله بكلماته؛ يقرأ الذكاء الاصطناعي كلامه ويقترح موضوعات من المكتبة الموثّقة.</a:t>
            </a:r>
            <a:endParaRPr/>
          </a:p>
          <a:p>
            <a:pPr marL="0" lvl="0" indent="0" algn="l" rtl="0">
              <a:spcBef>
                <a:spcPts val="0"/>
              </a:spcBef>
              <a:spcAft>
                <a:spcPts val="0"/>
              </a:spcAft>
              <a:buNone/>
            </a:pPr>
            <a:r>
              <a:rPr lang="ar-SA" sz="1200"/>
              <a:t>المستخدم يختار الموضوع، فتبدأ رحلة تعلّم قصيرة: آية موثقة، ثم تفسيرها، ثم حديث صحيح، كلٌّ بمصدره.</a:t>
            </a:r>
            <a:endParaRPr/>
          </a:p>
          <a:p>
            <a:pPr marL="0" lvl="0" indent="0" algn="l" rtl="0">
              <a:spcBef>
                <a:spcPts val="0"/>
              </a:spcBef>
              <a:spcAft>
                <a:spcPts val="0"/>
              </a:spcAft>
              <a:buNone/>
            </a:pPr>
            <a:r>
              <a:rPr lang="ar-SA" sz="1200"/>
              <a:t>وإذا كان المدخل سؤالًا معرفيًا: جواب حرفي من مصدر معتمد مع رقم المسألة والصفحة، أو إحالة صادقة، أو تصريح بأن المرجع غير كافٍ.</a:t>
            </a:r>
            <a:endParaRPr/>
          </a:p>
        </p:txBody>
      </p:sp>
      <p:sp>
        <p:nvSpPr>
          <p:cNvPr id="584" name="Google Shape;584;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8" name="Google Shape;598;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التقييم الحي في 2026-10-06: 34 حالة، منها الحالات الاثنتا عشرة في الصفحة 6 من الحزمة العلمية، وكل حالة ثلاث مرات (102 تشغيل) عبر مسار الخادم نفسه المستخدم في الإنتاج.</a:t>
            </a:r>
            <a:endParaRPr/>
          </a:p>
          <a:p>
            <a:pPr marL="0" lvl="0" indent="0" algn="l" rtl="0">
              <a:spcBef>
                <a:spcPts val="0"/>
              </a:spcBef>
              <a:spcAft>
                <a:spcPts val="0"/>
              </a:spcAft>
              <a:buNone/>
            </a:pPr>
            <a:r>
              <a:rPr lang="ar-SA" sz="1200"/>
              <a:t>نجح 99 من 99 تشغيلًا محسوبًا، ونجحت حالات الحزمة العلمية الـ12 في كل محاولاتها (36/36).</a:t>
            </a:r>
            <a:endParaRPr/>
          </a:p>
          <a:p>
            <a:pPr marL="0" lvl="0" indent="0" algn="l" rtl="0">
              <a:spcBef>
                <a:spcPts val="0"/>
              </a:spcBef>
              <a:spcAft>
                <a:spcPts val="0"/>
              </a:spcAft>
              <a:buNone/>
            </a:pPr>
            <a:r>
              <a:rPr lang="ar-SA" sz="1200"/>
              <a:t>لم يكتب النموذج أي نص شرعي: فُحص 380 حقلًا معروضًا وكلها مطابقة حرفيًا لمصادرها المخزنة. أخطاء البنية التحتية 0، واستجابات الحصة 429: 0.</a:t>
            </a:r>
            <a:endParaRPr/>
          </a:p>
          <a:p>
            <a:pPr marL="0" lvl="0" indent="0" algn="l" rtl="0">
              <a:spcBef>
                <a:spcPts val="0"/>
              </a:spcBef>
              <a:spcAft>
                <a:spcPts val="0"/>
              </a:spcAft>
              <a:buNone/>
            </a:pPr>
            <a:r>
              <a:rPr lang="ar-SA" sz="1200"/>
              <a:t>رسالة إيذاء النفس غير المباشرة بالإنجليزية («Everyone would be better off without me») صارت تُلتقط بالحاجز الحتمي قبل أي استدعاء للنموذج، وتصل إلى شاشة الدعم البشري في المحاولات الثلاث (إصلاح الإصدار d9f54b0).</a:t>
            </a:r>
            <a:endParaRPr/>
          </a:p>
          <a:p>
            <a:pPr marL="0" lvl="0" indent="0" algn="l" rtl="0">
              <a:spcBef>
                <a:spcPts val="0"/>
              </a:spcBef>
              <a:spcAft>
                <a:spcPts val="0"/>
              </a:spcAft>
              <a:buNone/>
            </a:pPr>
            <a:r>
              <a:rPr lang="ar-SA" sz="1200"/>
              <a:t>الاتساق 100%: كل حالة سلكت المسار نفسه بالمعرّف أو المصدر نفسه في المحاولات الثلاث. زمن الاستجابة: الوسيط 1.99 ث والمئين 90: 3.96 ث داخل مهلة 18 ث، والحواجز الحتمية تجيب دون استدعاء النموذج.</a:t>
            </a:r>
            <a:endParaRPr/>
          </a:p>
        </p:txBody>
      </p:sp>
      <p:sp>
        <p:nvSpPr>
          <p:cNvPr id="599" name="Google Shape;599;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4" name="Google Shape;634;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كل مصدر هنا مسمّى في «المرجعية والحزمة العلمية والبيانات» المرفقة بالتحدي.</a:t>
            </a:r>
            <a:endParaRPr/>
          </a:p>
          <a:p>
            <a:pPr marL="0" lvl="0" indent="0" algn="l" rtl="0">
              <a:spcBef>
                <a:spcPts val="0"/>
              </a:spcBef>
              <a:spcAft>
                <a:spcPts val="0"/>
              </a:spcAft>
              <a:buNone/>
            </a:pPr>
            <a:r>
              <a:rPr lang="ar-SA" sz="1200"/>
              <a:t>نواة كل رحلة ثابتة: آية ← تفسير ← حديث ← موقف من السيرة. مقاطع سيرة ابن هشام لا تحمل حكمًا حديثيًا، والمواقف من الصحيحين بدرجتها.</a:t>
            </a:r>
            <a:endParaRPr/>
          </a:p>
          <a:p>
            <a:pPr marL="0" lvl="0" indent="0" algn="l" rtl="0">
              <a:spcBef>
                <a:spcPts val="0"/>
              </a:spcBef>
              <a:spcAft>
                <a:spcPts val="0"/>
              </a:spcAft>
              <a:buNone/>
            </a:pPr>
            <a:r>
              <a:rPr lang="ar-SA" sz="1200"/>
              <a:t>مقاطع موسوعة الجمهرة لا تُعرض إلا عند طلب «لتتعلّم أكثر»، ولا يُنشر مقطع يذكر حديثًا إلا إذا كان كل حديث فيه من البخاري أو مسلم.</a:t>
            </a:r>
            <a:endParaRPr/>
          </a:p>
          <a:p>
            <a:pPr marL="0" lvl="0" indent="0" algn="l" rtl="0">
              <a:spcBef>
                <a:spcPts val="0"/>
              </a:spcBef>
              <a:spcAft>
                <a:spcPts val="0"/>
              </a:spcAft>
              <a:buNone/>
            </a:pPr>
            <a:r>
              <a:rPr lang="ar-SA" sz="1200"/>
              <a:t>مسار النشر: مصدر معتمد ← استخراج دون إعادة كتابة ← مراجعة بشرية ← نشر مع بصمة نصية ← عرض مع المرجع. أي اختلاف في البصمة يُسقط النص.</a:t>
            </a:r>
            <a:endParaRPr/>
          </a:p>
        </p:txBody>
      </p:sp>
      <p:sp>
        <p:nvSpPr>
          <p:cNvPr id="635" name="Google Shape;635;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7" name="Google Shape;647;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المراحل من مسار الاعتماد في وثيقة التشغيل: تجربة أولية على الخطط المجانية، ثم توسيع المحتوى موضوعًا بعد موضوع عبر مسار المراجعة، ثم مراجعة جهة إسلامية معتمدة، ثم مفتاح ذكاء مدفوع قبل أي إطلاق عام.</a:t>
            </a:r>
            <a:endParaRPr/>
          </a:p>
          <a:p>
            <a:pPr marL="0" lvl="0" indent="0" algn="l" rtl="0">
              <a:spcBef>
                <a:spcPts val="0"/>
              </a:spcBef>
              <a:spcAft>
                <a:spcPts val="0"/>
              </a:spcAft>
              <a:buNone/>
            </a:pPr>
            <a:r>
              <a:rPr lang="ar-SA" sz="1200"/>
              <a:t>تصحيح الآية المنقولة خطأً تحسين مخطط له في وثيقة حوكمة المحتوى: مطابقة النص المقتبس مع لقطة القرآن وعرض الآية الصحيحة بسورتها ورقمها.</a:t>
            </a:r>
            <a:endParaRPr/>
          </a:p>
          <a:p>
            <a:pPr marL="0" lvl="0" indent="0" algn="l" rtl="0">
              <a:spcBef>
                <a:spcPts val="0"/>
              </a:spcBef>
              <a:spcAft>
                <a:spcPts val="0"/>
              </a:spcAft>
              <a:buNone/>
            </a:pPr>
            <a:r>
              <a:rPr lang="ar-SA" sz="1200"/>
              <a:t>الصيانة الدورية: مراجعة السجلات أسبوعيًا، وفحص عينات المحتوى ومراجعة قائمة النماذج شهريًا، وتحديث اللقطات كل ربع سنة، وتدوير المفتاح كل 90 يومًا.</a:t>
            </a:r>
            <a:endParaRPr/>
          </a:p>
          <a:p>
            <a:pPr marL="0" lvl="0" indent="0" algn="l" rtl="0">
              <a:spcBef>
                <a:spcPts val="0"/>
              </a:spcBef>
              <a:spcAft>
                <a:spcPts val="0"/>
              </a:spcAft>
              <a:buNone/>
            </a:pPr>
            <a:r>
              <a:rPr lang="ar-SA" sz="1200"/>
              <a:t>الأدوار: قائد تقني، وقائد محتوى بتأهيل شرعي، ومراجع محتوى ثانٍ، ومهندس. والتكلفة التقديرية: 0–9 دولارات شهريًا للتجربة، ونحو 45 دولارًا لإطلاق صغير.</a:t>
            </a:r>
            <a:endParaRPr/>
          </a:p>
        </p:txBody>
      </p:sp>
      <p:sp>
        <p:nvSpPr>
          <p:cNvPr id="648" name="Google Shape;648;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6" name="Google Shape;706;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طمأنينة لا تطلب من المستخدم أن يعرف ماذا يبحث عنه؛ تبدأ من تجربته وتصل به إلى موضوع إسلامي يختاره بنفسه.</a:t>
            </a:r>
            <a:endParaRPr/>
          </a:p>
          <a:p>
            <a:pPr marL="0" lvl="0" indent="0" algn="l" rtl="0">
              <a:spcBef>
                <a:spcPts val="0"/>
              </a:spcBef>
              <a:spcAft>
                <a:spcPts val="0"/>
              </a:spcAft>
              <a:buNone/>
            </a:pPr>
            <a:r>
              <a:rPr lang="ar-SA" sz="1200"/>
              <a:t>عند غياب المرجع الكافي: امتناع صادق مع الإشارة إلى المصدر المعتمد، بدل توليد إجابة غير موثقة.</a:t>
            </a:r>
            <a:endParaRPr/>
          </a:p>
        </p:txBody>
      </p:sp>
      <p:sp>
        <p:nvSpPr>
          <p:cNvPr id="707" name="Google Shape;707;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5" name="Google Shape;725;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الواجهة: React 19 وTypeScript وVite 7، مع GSAP وLenis للحركة وأيقونات Phosphor. الخطوط: IBM Plex Sans Arabic وNoto Naskh Arabic وSource Sans 3 وSource Serif 4 (رخصة OFL). صُممت الواجهة في Claude Design.</a:t>
            </a:r>
            <a:endParaRPr/>
          </a:p>
          <a:p>
            <a:pPr marL="0" lvl="0" indent="0" algn="l" rtl="0">
              <a:spcBef>
                <a:spcPts val="0"/>
              </a:spcBef>
              <a:spcAft>
                <a:spcPts val="0"/>
              </a:spcAft>
              <a:buNone/>
            </a:pPr>
            <a:r>
              <a:rPr lang="ar-SA" sz="1200"/>
              <a:t>الخادم: دالة Netlify واحدة على Node.js 22 عند المسار /api/understand، والمعالج نفسه يعمل داخل Vite أثناء التطوير.</a:t>
            </a:r>
            <a:endParaRPr/>
          </a:p>
          <a:p>
            <a:pPr marL="0" lvl="0" indent="0" algn="l" rtl="0">
              <a:spcBef>
                <a:spcPts val="0"/>
              </a:spcBef>
              <a:spcAft>
                <a:spcPts val="0"/>
              </a:spcAft>
              <a:buNone/>
            </a:pPr>
            <a:r>
              <a:rPr lang="ar-SA" sz="1200"/>
              <a:t>الذكاء الاصطناعي: Gemini عبر واجهة متوافقة مع OpenAI بمخرجات JSON فقط، وقائمة نماذج مرتبة (gemini-3.5-flash-lite ثم gemini-3.1-flash-lite ثم gemini-flash-lite-latest)، ونموذج احتياطي بعد 2.5 ث، ومهلة مشتركة 18 ث. يمكن تبديل المزوّد دون تغيير الكود.</a:t>
            </a:r>
            <a:endParaRPr/>
          </a:p>
          <a:p>
            <a:pPr marL="0" lvl="0" indent="0" algn="l" rtl="0">
              <a:spcBef>
                <a:spcPts val="0"/>
              </a:spcBef>
              <a:spcAft>
                <a:spcPts val="0"/>
              </a:spcAft>
              <a:buNone/>
            </a:pPr>
            <a:r>
              <a:rPr lang="ar-SA" sz="1200"/>
              <a:t>المحتوى: لقطات حرفية من قرآنبيديا والمكتبة الشاملة وموسوعة الجمهرة و«بينات» والحزمة العلمية، تُتحقق ببصمة نصية عند النشر وعند التشغيل، ولا يُجلب أي محتوى من الشبكة وقت التشغيل.</a:t>
            </a:r>
            <a:endParaRPr/>
          </a:p>
          <a:p>
            <a:pPr marL="0" lvl="0" indent="0" algn="l" rtl="0">
              <a:spcBef>
                <a:spcPts val="0"/>
              </a:spcBef>
              <a:spcAft>
                <a:spcPts val="0"/>
              </a:spcAft>
              <a:buNone/>
            </a:pPr>
            <a:r>
              <a:rPr lang="ar-SA" sz="1200"/>
              <a:t>التكلفة التقديرية من وثيقة التشغيل: 0–9 دولارات شهريًا للتجربة الأولية، ونحو 45 دولارًا لإطلاق صغير (20 ألف جلسة).</a:t>
            </a:r>
            <a:endParaRPr/>
          </a:p>
        </p:txBody>
      </p:sp>
      <p:sp>
        <p:nvSpPr>
          <p:cNvPr id="726" name="Google Shape;726;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4" name="Google Shape;814;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قبل أي نموذج: حواجز حتمية على الخادم — إيذاء النفس يحوَّل لدعم بشري، والحكم في حالة شخصية يحال لأهل العلم، وما هو خارج النطاق يُصرَّح به.</a:t>
            </a:r>
            <a:endParaRPr/>
          </a:p>
          <a:p>
            <a:pPr marL="0" lvl="0" indent="0" algn="l" rtl="0">
              <a:spcBef>
                <a:spcPts val="0"/>
              </a:spcBef>
              <a:spcAft>
                <a:spcPts val="0"/>
              </a:spcAft>
              <a:buNone/>
            </a:pPr>
            <a:r>
              <a:rPr lang="ar-SA" sz="1200"/>
              <a:t>النموذج (جيميناي) يكتب قراءة محايدة لكلام المستخدم ويختار معرّفات من قوائم يرسلها الخادم فقط.</a:t>
            </a:r>
            <a:endParaRPr/>
          </a:p>
          <a:p>
            <a:pPr marL="0" lvl="0" indent="0" algn="l" rtl="0">
              <a:spcBef>
                <a:spcPts val="0"/>
              </a:spcBef>
              <a:spcAft>
                <a:spcPts val="0"/>
              </a:spcAft>
              <a:buNone/>
            </a:pPr>
            <a:r>
              <a:rPr lang="ar-SA" sz="1200"/>
              <a:t>الخادم صاحب القرار: يقبل فقط ما عرضه هو، ويعرض النص المحفوظ حرفيًا مع مصدره. ورحلة التعلّم لا تستدعي النموذج إطلاقًا.</a:t>
            </a:r>
            <a:endParaRPr/>
          </a:p>
        </p:txBody>
      </p:sp>
      <p:sp>
        <p:nvSpPr>
          <p:cNvPr id="815" name="Google Shape;815;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9" name="Google Shape;839;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مثال من تشغيل حي للنسخة الحالية، وهو العبارة نفسها المعروضة في الصفحة الرئيسية.</a:t>
            </a:r>
            <a:endParaRPr/>
          </a:p>
          <a:p>
            <a:pPr marL="0" lvl="0" indent="0" algn="l" rtl="0">
              <a:spcBef>
                <a:spcPts val="0"/>
              </a:spcBef>
              <a:spcAft>
                <a:spcPts val="0"/>
              </a:spcAft>
              <a:buNone/>
            </a:pPr>
            <a:r>
              <a:rPr lang="ar-SA" sz="1200"/>
              <a:t>اقترح النظام أربعة موضوعات من المكتبة الموثّقة: الشكر، القلق والخوف، التوكل، الأمانة. واختار المستخدم «الأمانة».</a:t>
            </a:r>
            <a:endParaRPr/>
          </a:p>
          <a:p>
            <a:pPr marL="0" lvl="0" indent="0" algn="l" rtl="0">
              <a:spcBef>
                <a:spcPts val="0"/>
              </a:spcBef>
              <a:spcAft>
                <a:spcPts val="0"/>
              </a:spcAft>
              <a:buNone/>
            </a:pPr>
            <a:r>
              <a:rPr lang="ar-SA" sz="1200"/>
              <a:t>ظهرت الرحلة على مراحل: آية المؤمنون 23:8 (قرآنبيديا)، ثم تفسير الطبري (ت. أحمد شاكر، ج19 ص11)، ثم حديث «كلكم راع…» من صحيح البخاري 2554، ثم موقف «عليٌّ يؤدّي الودائع» من سيرة ابن هشام (ج1 ص485)، ثم الربط وخطوة بسيطة ومساحة خاصة للدعاء.</a:t>
            </a:r>
            <a:endParaRPr/>
          </a:p>
        </p:txBody>
      </p:sp>
      <p:sp>
        <p:nvSpPr>
          <p:cNvPr id="840" name="Google Shape;840;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5" name="Google Shape;85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الموضوعات تتغير بحسب ما يكتبه المستخدم، وتأتي عناوينها من المكتبة الموثّقة.</a:t>
            </a:r>
            <a:endParaRPr/>
          </a:p>
          <a:p>
            <a:pPr marL="0" lvl="0" indent="0" algn="l" rtl="0">
              <a:spcBef>
                <a:spcPts val="0"/>
              </a:spcBef>
              <a:spcAft>
                <a:spcPts val="0"/>
              </a:spcAft>
              <a:buNone/>
            </a:pPr>
            <a:r>
              <a:rPr lang="ar-SA" sz="1200"/>
              <a:t>الفصل بين دور الذكاء الاصطناعي والمحتوى الديني هو جوهر التصميم: الذكاء يفهم ويوجّه، والمعرفة تأتي من مصادرها.</a:t>
            </a:r>
            <a:endParaRPr/>
          </a:p>
        </p:txBody>
      </p:sp>
      <p:sp>
        <p:nvSpPr>
          <p:cNvPr id="856" name="Google Shape;856;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8" name="Google Shape;878;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يفعل: فهم الكلام الحر بالفصحى واللهجات والإنجليزية، قراءة محايدة احتمالية «يبدو أنك…»، اقتراح موضوعات من القائمة المنشورة.</a:t>
            </a:r>
            <a:endParaRPr/>
          </a:p>
          <a:p>
            <a:pPr marL="0" lvl="0" indent="0" algn="l" rtl="0">
              <a:spcBef>
                <a:spcPts val="0"/>
              </a:spcBef>
              <a:spcAft>
                <a:spcPts val="0"/>
              </a:spcAft>
              <a:buNone/>
            </a:pPr>
            <a:r>
              <a:rPr lang="ar-SA" sz="1200"/>
              <a:t>لا يفعل: كتابة أو اقتباس أو تلخيص آية أو حديث أو تفسير، ولا فتوى ولا ترجيح، ولا اختراع مصدر أو معرّف.</a:t>
            </a:r>
            <a:endParaRPr/>
          </a:p>
          <a:p>
            <a:pPr marL="0" lvl="0" indent="0" algn="l" rtl="0">
              <a:spcBef>
                <a:spcPts val="0"/>
              </a:spcBef>
              <a:spcAft>
                <a:spcPts val="0"/>
              </a:spcAft>
              <a:buNone/>
            </a:pPr>
            <a:r>
              <a:rPr lang="ar-SA" sz="1200"/>
              <a:t>الضمانات في الكود: رفض أي مسودة تحمل علامات نص شرعي، وعناوين الموضوعات من الكتالوج دائمًا، وتجاهل أي معرّف لم يعرضه الخادم.</a:t>
            </a:r>
            <a:endParaRPr/>
          </a:p>
        </p:txBody>
      </p:sp>
      <p:sp>
        <p:nvSpPr>
          <p:cNvPr id="879" name="Google Shape;879;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1" name="Google Shape;911;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رسالة الختام: الذكاء يساعدك على الاكتشاف، والمعرفة تأتي من مصادرها.</a:t>
            </a:r>
            <a:endParaRPr/>
          </a:p>
        </p:txBody>
      </p:sp>
      <p:sp>
        <p:nvSpPr>
          <p:cNvPr id="912" name="Google Shape;912;p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4" name="Google Shape;634;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كل رقم هنا يُعاد إنتاجه من المستودع: npm run eval للتقييم الحي، وnpm test لاختبارات الوحدة والتكامل، وnpm run e2e للاختبارات الطرفية.</a:t>
            </a:r>
            <a:endParaRPr/>
          </a:p>
          <a:p>
            <a:pPr marL="0" lvl="0" indent="0" algn="l" rtl="0">
              <a:spcBef>
                <a:spcPts val="0"/>
              </a:spcBef>
              <a:spcAft>
                <a:spcPts val="0"/>
              </a:spcAft>
              <a:buNone/>
            </a:pPr>
            <a:r>
              <a:rPr lang="ar-SA" sz="1200"/>
              <a:t>اختبارات الوحدة والتكامل: 394 اختبارًا في 36 ملفًا، نجحت كلها على الإصدار d9f54b0 (نسخة نظيفة من المستودع).</a:t>
            </a:r>
            <a:endParaRPr/>
          </a:p>
          <a:p>
            <a:pPr marL="0" lvl="0" indent="0" algn="l" rtl="0">
              <a:spcBef>
                <a:spcPts val="0"/>
              </a:spcBef>
              <a:spcAft>
                <a:spcPts val="0"/>
              </a:spcAft>
              <a:buNone/>
            </a:pPr>
            <a:r>
              <a:rPr lang="ar-SA" sz="1200"/>
              <a:t>الاختبارات الطرفية: 109 اختبارات نُفّذت ونجحت كلها: الحاسوب، وتقليل الحركة، وجوال بعرض 360 و390، والواجهة البرمجية، وحد الطلبات. و5 مستثناة بالتصميم: 3 لرؤوس الأمان تعمل على رابط منشور فقط، و2 لحركة الصفحة الرئيسية لا تنطبق مع تقليل الحركة.</a:t>
            </a:r>
            <a:endParaRPr/>
          </a:p>
          <a:p>
            <a:pPr marL="0" lvl="0" indent="0" algn="l" rtl="0">
              <a:spcBef>
                <a:spcPts val="0"/>
              </a:spcBef>
              <a:spcAft>
                <a:spcPts val="0"/>
              </a:spcAft>
              <a:buNone/>
            </a:pPr>
            <a:r>
              <a:rPr lang="ar-SA" sz="1200"/>
              <a:t>المحتوى المنشور: 10 آيات، و10 مقاطع تفسير، و10 أحاديث صحيحة، و15 موقفًا من السيرة، و53 مقطعًا من الجمهرة، و69 جوابًا من «بينات»، و10 مصطلحات = 177 نصًا.</a:t>
            </a:r>
            <a:endParaRPr/>
          </a:p>
        </p:txBody>
      </p:sp>
      <p:sp>
        <p:nvSpPr>
          <p:cNvPr id="635" name="Google Shape;635;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5" name="Google Shape;725;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ar-SA" sz="1200"/>
              <a:t>هذه الشريحة خريطة للجنة: كل معيار من معايير التحكيم الـ100 نقطة، ووزنه، والدليل عليه في طمأنينة، ورقم الشريحة التي تعرضه.</a:t>
            </a:r>
            <a:endParaRPr/>
          </a:p>
          <a:p>
            <a:pPr marL="0" lvl="0" indent="0" algn="l" rtl="0">
              <a:spcBef>
                <a:spcPts val="0"/>
              </a:spcBef>
              <a:spcAft>
                <a:spcPts val="0"/>
              </a:spcAft>
              <a:buNone/>
            </a:pPr>
            <a:r>
              <a:rPr lang="ar-SA" sz="1200"/>
              <a:t>أعلى وزنين: جودة الحل التقني وتوظيف الذكاء الاصطناعي (25%) وتحقيق النفع (20%). الدليل: ذكاء يفهم ويوجّه فقط، وخادم صاحب القرار، ورحلة تعلّم كاملة من التجربة إلى معرفة موثّقة.</a:t>
            </a:r>
            <a:endParaRPr/>
          </a:p>
          <a:p>
            <a:pPr marL="0" lvl="0" indent="0" algn="l" rtl="0">
              <a:spcBef>
                <a:spcPts val="0"/>
              </a:spcBef>
              <a:spcAft>
                <a:spcPts val="0"/>
              </a:spcAft>
              <a:buNone/>
            </a:pPr>
            <a:r>
              <a:rPr lang="ar-SA" sz="1200"/>
              <a:t>الخصوصية جزء من النفع: لا تستنتج طمأنينة سمات المستخدم الدينية أو الحساسة ولا تصنّفه؛ النموذج يصنّف الرسالة لا الشخص، ولا يُحفظ شيء.</a:t>
            </a:r>
            <a:endParaRPr/>
          </a:p>
        </p:txBody>
      </p:sp>
      <p:sp>
        <p:nvSpPr>
          <p:cNvPr id="726" name="Google Shape;726;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غلاف المشروع">
  <p:cSld name="غلاف المشروع">
    <p:bg>
      <p:bgPr>
        <a:solidFill>
          <a:srgbClr val="12183F"/>
        </a:solidFill>
        <a:effectLst/>
      </p:bgPr>
    </p:bg>
    <p:spTree>
      <p:nvGrpSpPr>
        <p:cNvPr id="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a:stretch/>
        </p:blipFill>
        <p:spPr>
          <a:xfrm>
            <a:off x="1078258" y="3190875"/>
            <a:ext cx="6701734" cy="6191250"/>
          </a:xfrm>
          <a:prstGeom prst="rect">
            <a:avLst/>
          </a:prstGeom>
          <a:noFill/>
          <a:ln>
            <a:noFill/>
          </a:ln>
        </p:spPr>
      </p:pic>
      <p:sp>
        <p:nvSpPr>
          <p:cNvPr id="16" name="Google Shape;16;p34"/>
          <p:cNvSpPr txBox="1">
            <a:spLocks noGrp="1"/>
          </p:cNvSpPr>
          <p:nvPr>
            <p:ph type="title"/>
          </p:nvPr>
        </p:nvSpPr>
        <p:spPr>
          <a:xfrm>
            <a:off x="8096250" y="3524250"/>
            <a:ext cx="9048750" cy="1333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 name="Google Shape;17;p34"/>
          <p:cNvSpPr txBox="1">
            <a:spLocks noGrp="1"/>
          </p:cNvSpPr>
          <p:nvPr>
            <p:ph type="body" idx="1"/>
          </p:nvPr>
        </p:nvSpPr>
        <p:spPr>
          <a:xfrm>
            <a:off x="8096250" y="5334000"/>
            <a:ext cx="9048750" cy="1619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 name="Google Shape;18;p34"/>
          <p:cNvSpPr txBox="1">
            <a:spLocks noGrp="1"/>
          </p:cNvSpPr>
          <p:nvPr>
            <p:ph type="body" idx="2"/>
          </p:nvPr>
        </p:nvSpPr>
        <p:spPr>
          <a:xfrm>
            <a:off x="8953500" y="7762875"/>
            <a:ext cx="81915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 name="Google Shape;19;p34"/>
          <p:cNvSpPr txBox="1">
            <a:spLocks noGrp="1"/>
          </p:cNvSpPr>
          <p:nvPr>
            <p:ph type="body" idx="3"/>
          </p:nvPr>
        </p:nvSpPr>
        <p:spPr>
          <a:xfrm>
            <a:off x="1066800" y="9391650"/>
            <a:ext cx="5429250" cy="4953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محتويات العرض">
  <p:cSld name="محتويات العرض">
    <p:bg>
      <p:bgPr>
        <a:solidFill>
          <a:srgbClr val="12183F"/>
        </a:solidFill>
        <a:effectLst/>
      </p:bgPr>
    </p:bg>
    <p:spTree>
      <p:nvGrpSpPr>
        <p:cNvPr id="1"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3" name="Google Shape;23;p35"/>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 name="Google Shape;24;p35"/>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5" name="Google Shape;25;p3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a:spLocks noGrp="1"/>
          </p:cNvSpPr>
          <p:nvPr>
            <p:ph type="body" idx="2"/>
          </p:nvPr>
        </p:nvSpPr>
        <p:spPr>
          <a:xfrm>
            <a:off x="12382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 name="Google Shape;28;p35"/>
          <p:cNvSpPr txBox="1">
            <a:spLocks noGrp="1"/>
          </p:cNvSpPr>
          <p:nvPr>
            <p:ph type="body" idx="3"/>
          </p:nvPr>
        </p:nvSpPr>
        <p:spPr>
          <a:xfrm>
            <a:off x="12382500" y="4724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 name="Google Shape;29;p35"/>
          <p:cNvSpPr txBox="1">
            <a:spLocks noGrp="1"/>
          </p:cNvSpPr>
          <p:nvPr>
            <p:ph type="body" idx="4"/>
          </p:nvPr>
        </p:nvSpPr>
        <p:spPr>
          <a:xfrm>
            <a:off x="12382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0" name="Google Shape;30;p35"/>
          <p:cNvSpPr txBox="1">
            <a:spLocks noGrp="1"/>
          </p:cNvSpPr>
          <p:nvPr>
            <p:ph type="body" idx="5"/>
          </p:nvPr>
        </p:nvSpPr>
        <p:spPr>
          <a:xfrm>
            <a:off x="7048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 name="Google Shape;31;p35"/>
          <p:cNvSpPr txBox="1">
            <a:spLocks noGrp="1"/>
          </p:cNvSpPr>
          <p:nvPr>
            <p:ph type="body" idx="6"/>
          </p:nvPr>
        </p:nvSpPr>
        <p:spPr>
          <a:xfrm>
            <a:off x="7048500" y="4724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2" name="Google Shape;32;p35"/>
          <p:cNvSpPr txBox="1">
            <a:spLocks noGrp="1"/>
          </p:cNvSpPr>
          <p:nvPr>
            <p:ph type="body" idx="7"/>
          </p:nvPr>
        </p:nvSpPr>
        <p:spPr>
          <a:xfrm>
            <a:off x="7048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3" name="Google Shape;33;p35"/>
          <p:cNvSpPr txBox="1">
            <a:spLocks noGrp="1"/>
          </p:cNvSpPr>
          <p:nvPr>
            <p:ph type="body" idx="8"/>
          </p:nvPr>
        </p:nvSpPr>
        <p:spPr>
          <a:xfrm>
            <a:off x="1714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4" name="Google Shape;34;p35"/>
          <p:cNvSpPr txBox="1">
            <a:spLocks noGrp="1"/>
          </p:cNvSpPr>
          <p:nvPr>
            <p:ph type="body" idx="9"/>
          </p:nvPr>
        </p:nvSpPr>
        <p:spPr>
          <a:xfrm>
            <a:off x="1714500" y="4724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5" name="Google Shape;35;p35"/>
          <p:cNvSpPr txBox="1">
            <a:spLocks noGrp="1"/>
          </p:cNvSpPr>
          <p:nvPr>
            <p:ph type="body" idx="13"/>
          </p:nvPr>
        </p:nvSpPr>
        <p:spPr>
          <a:xfrm>
            <a:off x="1714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6" name="Google Shape;36;p35"/>
          <p:cNvSpPr txBox="1">
            <a:spLocks noGrp="1"/>
          </p:cNvSpPr>
          <p:nvPr>
            <p:ph type="body" idx="14"/>
          </p:nvPr>
        </p:nvSpPr>
        <p:spPr>
          <a:xfrm>
            <a:off x="12382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7" name="Google Shape;37;p35"/>
          <p:cNvSpPr txBox="1">
            <a:spLocks noGrp="1"/>
          </p:cNvSpPr>
          <p:nvPr>
            <p:ph type="body" idx="15"/>
          </p:nvPr>
        </p:nvSpPr>
        <p:spPr>
          <a:xfrm>
            <a:off x="12382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8" name="Google Shape;38;p35"/>
          <p:cNvSpPr txBox="1">
            <a:spLocks noGrp="1"/>
          </p:cNvSpPr>
          <p:nvPr>
            <p:ph type="body" idx="16"/>
          </p:nvPr>
        </p:nvSpPr>
        <p:spPr>
          <a:xfrm>
            <a:off x="12382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9" name="Google Shape;39;p35"/>
          <p:cNvSpPr txBox="1">
            <a:spLocks noGrp="1"/>
          </p:cNvSpPr>
          <p:nvPr>
            <p:ph type="body" idx="17"/>
          </p:nvPr>
        </p:nvSpPr>
        <p:spPr>
          <a:xfrm>
            <a:off x="7048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0" name="Google Shape;40;p35"/>
          <p:cNvSpPr txBox="1">
            <a:spLocks noGrp="1"/>
          </p:cNvSpPr>
          <p:nvPr>
            <p:ph type="body" idx="18"/>
          </p:nvPr>
        </p:nvSpPr>
        <p:spPr>
          <a:xfrm>
            <a:off x="7048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1" name="Google Shape;41;p35"/>
          <p:cNvSpPr txBox="1">
            <a:spLocks noGrp="1"/>
          </p:cNvSpPr>
          <p:nvPr>
            <p:ph type="body" idx="19"/>
          </p:nvPr>
        </p:nvSpPr>
        <p:spPr>
          <a:xfrm>
            <a:off x="7048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2" name="Google Shape;42;p35"/>
          <p:cNvSpPr txBox="1">
            <a:spLocks noGrp="1"/>
          </p:cNvSpPr>
          <p:nvPr>
            <p:ph type="body" idx="20"/>
          </p:nvPr>
        </p:nvSpPr>
        <p:spPr>
          <a:xfrm>
            <a:off x="1714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3" name="Google Shape;43;p35"/>
          <p:cNvSpPr txBox="1">
            <a:spLocks noGrp="1"/>
          </p:cNvSpPr>
          <p:nvPr>
            <p:ph type="body" idx="21"/>
          </p:nvPr>
        </p:nvSpPr>
        <p:spPr>
          <a:xfrm>
            <a:off x="1714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4" name="Google Shape;44;p35"/>
          <p:cNvSpPr txBox="1">
            <a:spLocks noGrp="1"/>
          </p:cNvSpPr>
          <p:nvPr>
            <p:ph type="body" idx="22"/>
          </p:nvPr>
        </p:nvSpPr>
        <p:spPr>
          <a:xfrm>
            <a:off x="1714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فاصل قسم">
  <p:cSld name="فاصل قسم">
    <p:bg>
      <p:bgPr>
        <a:solidFill>
          <a:srgbClr val="12183F"/>
        </a:solidFill>
        <a:effectLst/>
      </p:bgPr>
    </p:bg>
    <p:spTree>
      <p:nvGrpSpPr>
        <p:cNvPr id="1"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a:stretch/>
        </p:blipFill>
        <p:spPr>
          <a:xfrm>
            <a:off x="1066800" y="687391"/>
            <a:ext cx="4000500" cy="1025519"/>
          </a:xfrm>
          <a:prstGeom prst="rect">
            <a:avLst/>
          </a:prstGeom>
          <a:noFill/>
          <a:ln>
            <a:noFill/>
          </a:ln>
        </p:spPr>
      </p:pic>
      <p:sp>
        <p:nvSpPr>
          <p:cNvPr id="48" name="Google Shape;48;p36"/>
          <p:cNvSpPr txBox="1">
            <a:spLocks noGrp="1"/>
          </p:cNvSpPr>
          <p:nvPr>
            <p:ph type="body" idx="1"/>
          </p:nvPr>
        </p:nvSpPr>
        <p:spPr>
          <a:xfrm>
            <a:off x="13430250" y="3143250"/>
            <a:ext cx="3619500" cy="1238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9" name="Google Shape;49;p36"/>
          <p:cNvSpPr txBox="1">
            <a:spLocks noGrp="1"/>
          </p:cNvSpPr>
          <p:nvPr>
            <p:ph type="title"/>
          </p:nvPr>
        </p:nvSpPr>
        <p:spPr>
          <a:xfrm>
            <a:off x="4953000" y="4810125"/>
            <a:ext cx="12096750" cy="12382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0" name="Google Shape;50;p36"/>
          <p:cNvSpPr txBox="1">
            <a:spLocks noGrp="1"/>
          </p:cNvSpPr>
          <p:nvPr>
            <p:ph type="body" idx="2"/>
          </p:nvPr>
        </p:nvSpPr>
        <p:spPr>
          <a:xfrm>
            <a:off x="6667500" y="6572250"/>
            <a:ext cx="10382250" cy="1047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أربع نقاط">
  <p:cSld name="أربع نقاط">
    <p:bg>
      <p:bgPr>
        <a:solidFill>
          <a:srgbClr val="12183F"/>
        </a:solidFill>
        <a:effectLst/>
      </p:bgPr>
    </p:bg>
    <p:spTree>
      <p:nvGrpSpPr>
        <p:cNvPr id="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54" name="Google Shape;54;p37"/>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5" name="Google Shape;55;p37"/>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6" name="Google Shape;56;p37"/>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7" name="Google Shape;57;p37"/>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a:spLocks noGrp="1"/>
          </p:cNvSpPr>
          <p:nvPr>
            <p:ph type="body" idx="3"/>
          </p:nvPr>
        </p:nvSpPr>
        <p:spPr>
          <a:xfrm>
            <a:off x="9810750" y="3952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0" name="Google Shape;60;p37"/>
          <p:cNvSpPr txBox="1">
            <a:spLocks noGrp="1"/>
          </p:cNvSpPr>
          <p:nvPr>
            <p:ph type="body" idx="4"/>
          </p:nvPr>
        </p:nvSpPr>
        <p:spPr>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1" name="Google Shape;61;p37"/>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2" name="Google Shape;62;p37"/>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3" name="Google Shape;63;p37"/>
          <p:cNvSpPr txBox="1">
            <a:spLocks noGrp="1"/>
          </p:cNvSpPr>
          <p:nvPr>
            <p:ph type="body" idx="7"/>
          </p:nvPr>
        </p:nvSpPr>
        <p:spPr>
          <a:xfrm>
            <a:off x="9810750" y="6619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4" name="Google Shape;64;p37"/>
          <p:cNvSpPr txBox="1">
            <a:spLocks noGrp="1"/>
          </p:cNvSpPr>
          <p:nvPr>
            <p:ph type="body" idx="8"/>
          </p:nvPr>
        </p:nvSpPr>
        <p:spPr>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5" name="Google Shape;65;p37"/>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6" name="Google Shape;66;p37"/>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نص رئيسي">
  <p:cSld name="نص رئيسي">
    <p:bg>
      <p:bgPr>
        <a:solidFill>
          <a:srgbClr val="12183F"/>
        </a:solidFill>
        <a:effectLst/>
      </p:bgPr>
    </p:bg>
    <p:spTree>
      <p:nvGrpSpPr>
        <p:cNvPr id="1"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70" name="Google Shape;70;p38"/>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1" name="Google Shape;71;p38"/>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2" name="Google Shape;72;p38"/>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a:spLocks noGrp="1"/>
          </p:cNvSpPr>
          <p:nvPr>
            <p:ph type="body" idx="2"/>
          </p:nvPr>
        </p:nvSpPr>
        <p:spPr>
          <a:xfrm>
            <a:off x="6191250" y="4000500"/>
            <a:ext cx="10953750" cy="2667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5" name="Google Shape;75;p38"/>
          <p:cNvSpPr txBox="1">
            <a:spLocks noGrp="1"/>
          </p:cNvSpPr>
          <p:nvPr>
            <p:ph type="body" idx="3"/>
          </p:nvPr>
        </p:nvSpPr>
        <p:spPr>
          <a:xfrm>
            <a:off x="6191250" y="7239000"/>
            <a:ext cx="1095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6" name="Google Shape;76;p38"/>
          <p:cNvSpPr txBox="1">
            <a:spLocks noGrp="1"/>
          </p:cNvSpPr>
          <p:nvPr>
            <p:ph type="body" idx="4"/>
          </p:nvPr>
        </p:nvSpPr>
        <p:spPr>
          <a:xfrm>
            <a:off x="6191250" y="8001000"/>
            <a:ext cx="1095375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نص وصورة عريضة">
  <p:cSld name="نص وصورة عريضة">
    <p:bg>
      <p:bgPr>
        <a:solidFill>
          <a:srgbClr val="12183F"/>
        </a:solidFill>
        <a:effectLst/>
      </p:bgPr>
    </p:bg>
    <p:spTree>
      <p:nvGrpSpPr>
        <p:cNvPr id="1"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80" name="Google Shape;80;p39"/>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1" name="Google Shape;81;p39"/>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2" name="Google Shape;82;p39"/>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a:spLocks noGrp="1"/>
          </p:cNvSpPr>
          <p:nvPr>
            <p:ph type="pic" idx="2"/>
          </p:nvPr>
        </p:nvSpPr>
        <p:spPr>
          <a:xfrm>
            <a:off x="1428750" y="4048125"/>
            <a:ext cx="8382000" cy="4714875"/>
          </a:xfrm>
          <a:prstGeom prst="rect">
            <a:avLst/>
          </a:prstGeom>
          <a:solidFill>
            <a:srgbClr val="161D48"/>
          </a:solidFill>
          <a:ln w="11425" cap="flat" cmpd="sng">
            <a:solidFill>
              <a:srgbClr val="4A5590"/>
            </a:solidFill>
            <a:prstDash val="solid"/>
            <a:round/>
            <a:headEnd type="none" w="sm" len="sm"/>
            <a:tailEnd type="none" w="sm" len="sm"/>
          </a:ln>
        </p:spPr>
      </p:sp>
      <p:sp>
        <p:nvSpPr>
          <p:cNvPr id="85" name="Google Shape;85;p39"/>
          <p:cNvSpPr txBox="1">
            <a:spLocks noGrp="1"/>
          </p:cNvSpPr>
          <p:nvPr>
            <p:ph type="body" idx="3"/>
          </p:nvPr>
        </p:nvSpPr>
        <p:spPr>
          <a:xfrm>
            <a:off x="10763250" y="4095750"/>
            <a:ext cx="6381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6" name="Google Shape;86;p39"/>
          <p:cNvSpPr txBox="1">
            <a:spLocks noGrp="1"/>
          </p:cNvSpPr>
          <p:nvPr>
            <p:ph type="body" idx="4"/>
          </p:nvPr>
        </p:nvSpPr>
        <p:spPr>
          <a:xfrm>
            <a:off x="10763250" y="480060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7" name="Google Shape;87;p39"/>
          <p:cNvSpPr txBox="1">
            <a:spLocks noGrp="1"/>
          </p:cNvSpPr>
          <p:nvPr>
            <p:ph type="body" idx="5"/>
          </p:nvPr>
        </p:nvSpPr>
        <p:spPr>
          <a:xfrm>
            <a:off x="10763250" y="6667500"/>
            <a:ext cx="6381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8" name="Google Shape;88;p39"/>
          <p:cNvSpPr txBox="1">
            <a:spLocks noGrp="1"/>
          </p:cNvSpPr>
          <p:nvPr>
            <p:ph type="body" idx="6"/>
          </p:nvPr>
        </p:nvSpPr>
        <p:spPr>
          <a:xfrm>
            <a:off x="10763250" y="737235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نص وصورة مربعة">
  <p:cSld name="نص وصورة مربعة">
    <p:bg>
      <p:bgPr>
        <a:solidFill>
          <a:srgbClr val="12183F"/>
        </a:solidFill>
        <a:effectLst/>
      </p:bgPr>
    </p:bg>
    <p:spTree>
      <p:nvGrpSpPr>
        <p:cNvPr id="1"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92" name="Google Shape;92;p40"/>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3" name="Google Shape;93;p40"/>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4" name="Google Shape;94;p40"/>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a:spLocks noGrp="1"/>
          </p:cNvSpPr>
          <p:nvPr>
            <p:ph type="pic" idx="2"/>
          </p:nvPr>
        </p:nvSpPr>
        <p:spPr>
          <a:xfrm>
            <a:off x="2190750" y="3476625"/>
            <a:ext cx="5715000" cy="5715000"/>
          </a:xfrm>
          <a:prstGeom prst="rect">
            <a:avLst/>
          </a:prstGeom>
          <a:solidFill>
            <a:srgbClr val="161D48"/>
          </a:solidFill>
          <a:ln w="11425" cap="flat" cmpd="sng">
            <a:solidFill>
              <a:srgbClr val="4A5590"/>
            </a:solidFill>
            <a:prstDash val="solid"/>
            <a:round/>
            <a:headEnd type="none" w="sm" len="sm"/>
            <a:tailEnd type="none" w="sm" len="sm"/>
          </a:ln>
        </p:spPr>
      </p:sp>
      <p:sp>
        <p:nvSpPr>
          <p:cNvPr id="97" name="Google Shape;97;p40"/>
          <p:cNvSpPr txBox="1">
            <a:spLocks noGrp="1"/>
          </p:cNvSpPr>
          <p:nvPr>
            <p:ph type="body" idx="3"/>
          </p:nvPr>
        </p:nvSpPr>
        <p:spPr>
          <a:xfrm>
            <a:off x="10001250" y="3905250"/>
            <a:ext cx="7143750" cy="800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8" name="Google Shape;98;p40"/>
          <p:cNvSpPr txBox="1">
            <a:spLocks noGrp="1"/>
          </p:cNvSpPr>
          <p:nvPr>
            <p:ph type="body" idx="4"/>
          </p:nvPr>
        </p:nvSpPr>
        <p:spPr>
          <a:xfrm>
            <a:off x="10001250" y="5191125"/>
            <a:ext cx="7143750" cy="2428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9" name="Google Shape;99;p40"/>
          <p:cNvSpPr txBox="1">
            <a:spLocks noGrp="1"/>
          </p:cNvSpPr>
          <p:nvPr>
            <p:ph type="body" idx="5"/>
          </p:nvPr>
        </p:nvSpPr>
        <p:spPr>
          <a:xfrm>
            <a:off x="10001250" y="8048625"/>
            <a:ext cx="71437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مؤشرات">
  <p:cSld name="مؤشرات">
    <p:bg>
      <p:bgPr>
        <a:solidFill>
          <a:srgbClr val="12183F"/>
        </a:solidFill>
        <a:effectLst/>
      </p:bgPr>
    </p:bg>
    <p:spTree>
      <p:nvGrpSpPr>
        <p:cNvPr id="1"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03" name="Google Shape;103;p41"/>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4" name="Google Shape;104;p41"/>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5" name="Google Shape;105;p41"/>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6" name="Google Shape;106;p41"/>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9" name="Google Shape;109;p41"/>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0" name="Google Shape;110;p41"/>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1" name="Google Shape;111;p41"/>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2" name="Google Shape;112;p41"/>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3" name="Google Shape;113;p41"/>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4" name="Google Shape;114;p41"/>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5" name="Google Shape;115;p41"/>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6" name="Google Shape;116;p41"/>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7" name="Google Shape;117;p41"/>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8" name="Google Shape;118;p41"/>
          <p:cNvSpPr txBox="1">
            <a:spLocks noGrp="1"/>
          </p:cNvSpPr>
          <p:nvPr>
            <p:ph type="body" idx="16"/>
          </p:nvPr>
        </p:nvSpPr>
        <p:spPr>
          <a:xfrm>
            <a:off x="1714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9" name="Google Shape;119;p41"/>
          <p:cNvSpPr txBox="1">
            <a:spLocks noGrp="1"/>
          </p:cNvSpPr>
          <p:nvPr>
            <p:ph type="body" idx="17"/>
          </p:nvPr>
        </p:nvSpPr>
        <p:spPr>
          <a:xfrm>
            <a:off x="1714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0" name="Google Shape;120;p41"/>
          <p:cNvSpPr txBox="1">
            <a:spLocks noGrp="1"/>
          </p:cNvSpPr>
          <p:nvPr>
            <p:ph type="body" idx="18"/>
          </p:nvPr>
        </p:nvSpPr>
        <p:spPr>
          <a:xfrm>
            <a:off x="1714500" y="8763000"/>
            <a:ext cx="15430500" cy="476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رسالة رئيسية">
  <p:cSld name="رسالة رئيسية">
    <p:bg>
      <p:bgPr>
        <a:solidFill>
          <a:srgbClr val="F2F4FF"/>
        </a:solidFill>
        <a:effectLst/>
      </p:bgPr>
    </p:bg>
    <p:spTree>
      <p:nvGrpSpPr>
        <p:cNvPr id="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a:spLocks noGrp="1"/>
          </p:cNvSpPr>
          <p:nvPr>
            <p:ph type="title"/>
          </p:nvPr>
        </p:nvSpPr>
        <p:spPr>
          <a:xfrm>
            <a:off x="2476500" y="3143250"/>
            <a:ext cx="13335000" cy="2952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7" name="Google Shape;127;p42"/>
          <p:cNvSpPr txBox="1">
            <a:spLocks noGrp="1"/>
          </p:cNvSpPr>
          <p:nvPr>
            <p:ph type="body" idx="1"/>
          </p:nvPr>
        </p:nvSpPr>
        <p:spPr>
          <a:xfrm>
            <a:off x="3333750" y="6905625"/>
            <a:ext cx="1162050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8" name="Google Shape;128;p42"/>
          <p:cNvSpPr txBox="1">
            <a:spLocks noGrp="1"/>
          </p:cNvSpPr>
          <p:nvPr>
            <p:ph type="body" idx="2"/>
          </p:nvPr>
        </p:nvSpPr>
        <p:spPr>
          <a:xfrm>
            <a:off x="3333750" y="8239125"/>
            <a:ext cx="11620500" cy="523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جدول داكن">
  <p:cSld name="جدول داكن">
    <p:bg>
      <p:bgPr>
        <a:solidFill>
          <a:srgbClr val="12183F"/>
        </a:solidFill>
        <a:effectLst/>
      </p:bgPr>
    </p:bg>
    <p:spTree>
      <p:nvGrpSpPr>
        <p:cNvPr id="1"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32" name="Google Shape;132;p43"/>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3" name="Google Shape;133;p43"/>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4" name="Google Shape;134;p43"/>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5" name="Google Shape;135;p43"/>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a:spLocks noGrp="1"/>
          </p:cNvSpPr>
          <p:nvPr>
            <p:ph type="body" idx="3"/>
          </p:nvPr>
        </p:nvSpPr>
        <p:spPr>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8" name="Google Shape;138;p43"/>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خط زمني">
  <p:cSld name="خط زمني">
    <p:bg>
      <p:bgPr>
        <a:solidFill>
          <a:srgbClr val="12183F"/>
        </a:solidFill>
        <a:effectLst/>
      </p:bgPr>
    </p:bg>
    <p:spTree>
      <p:nvGrpSpPr>
        <p:cNvPr id="1"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4"/>
          <p:cNvSpPr/>
          <p:nvPr/>
        </p:nvSpPr>
        <p:spPr>
          <a:xfrm>
            <a:off x="111442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4"/>
          <p:cNvSpPr/>
          <p:nvPr/>
        </p:nvSpPr>
        <p:spPr>
          <a:xfrm>
            <a:off x="80010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4"/>
          <p:cNvSpPr/>
          <p:nvPr/>
        </p:nvSpPr>
        <p:spPr>
          <a:xfrm>
            <a:off x="48577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4"/>
          <p:cNvSpPr/>
          <p:nvPr/>
        </p:nvSpPr>
        <p:spPr>
          <a:xfrm>
            <a:off x="1714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4"/>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48" name="Google Shape;148;p44"/>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49" name="Google Shape;149;p44"/>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0" name="Google Shape;150;p44"/>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a:spLocks noGrp="1"/>
          </p:cNvSpPr>
          <p:nvPr>
            <p:ph type="body" idx="3"/>
          </p:nvPr>
        </p:nvSpPr>
        <p:spPr>
          <a:xfrm>
            <a:off x="14287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3" name="Google Shape;153;p44"/>
          <p:cNvSpPr txBox="1">
            <a:spLocks noGrp="1"/>
          </p:cNvSpPr>
          <p:nvPr>
            <p:ph type="body" idx="4"/>
          </p:nvPr>
        </p:nvSpPr>
        <p:spPr>
          <a:xfrm>
            <a:off x="14287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4" name="Google Shape;154;p44"/>
          <p:cNvSpPr txBox="1">
            <a:spLocks noGrp="1"/>
          </p:cNvSpPr>
          <p:nvPr>
            <p:ph type="body" idx="5"/>
          </p:nvPr>
        </p:nvSpPr>
        <p:spPr>
          <a:xfrm>
            <a:off x="14287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5" name="Google Shape;155;p44"/>
          <p:cNvSpPr txBox="1">
            <a:spLocks noGrp="1"/>
          </p:cNvSpPr>
          <p:nvPr>
            <p:ph type="body" idx="6"/>
          </p:nvPr>
        </p:nvSpPr>
        <p:spPr>
          <a:xfrm>
            <a:off x="14287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6" name="Google Shape;156;p44"/>
          <p:cNvSpPr txBox="1">
            <a:spLocks noGrp="1"/>
          </p:cNvSpPr>
          <p:nvPr>
            <p:ph type="body" idx="7"/>
          </p:nvPr>
        </p:nvSpPr>
        <p:spPr>
          <a:xfrm>
            <a:off x="111442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7" name="Google Shape;157;p44"/>
          <p:cNvSpPr txBox="1">
            <a:spLocks noGrp="1"/>
          </p:cNvSpPr>
          <p:nvPr>
            <p:ph type="body" idx="8"/>
          </p:nvPr>
        </p:nvSpPr>
        <p:spPr>
          <a:xfrm>
            <a:off x="111442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8" name="Google Shape;158;p44"/>
          <p:cNvSpPr txBox="1">
            <a:spLocks noGrp="1"/>
          </p:cNvSpPr>
          <p:nvPr>
            <p:ph type="body" idx="9"/>
          </p:nvPr>
        </p:nvSpPr>
        <p:spPr>
          <a:xfrm>
            <a:off x="111442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9" name="Google Shape;159;p44"/>
          <p:cNvSpPr txBox="1">
            <a:spLocks noGrp="1"/>
          </p:cNvSpPr>
          <p:nvPr>
            <p:ph type="body" idx="13"/>
          </p:nvPr>
        </p:nvSpPr>
        <p:spPr>
          <a:xfrm>
            <a:off x="111442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0" name="Google Shape;160;p44"/>
          <p:cNvSpPr txBox="1">
            <a:spLocks noGrp="1"/>
          </p:cNvSpPr>
          <p:nvPr>
            <p:ph type="body" idx="14"/>
          </p:nvPr>
        </p:nvSpPr>
        <p:spPr>
          <a:xfrm>
            <a:off x="80010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1" name="Google Shape;161;p44"/>
          <p:cNvSpPr txBox="1">
            <a:spLocks noGrp="1"/>
          </p:cNvSpPr>
          <p:nvPr>
            <p:ph type="body" idx="15"/>
          </p:nvPr>
        </p:nvSpPr>
        <p:spPr>
          <a:xfrm>
            <a:off x="80010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2" name="Google Shape;162;p44"/>
          <p:cNvSpPr txBox="1">
            <a:spLocks noGrp="1"/>
          </p:cNvSpPr>
          <p:nvPr>
            <p:ph type="body" idx="16"/>
          </p:nvPr>
        </p:nvSpPr>
        <p:spPr>
          <a:xfrm>
            <a:off x="80010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3" name="Google Shape;163;p44"/>
          <p:cNvSpPr txBox="1">
            <a:spLocks noGrp="1"/>
          </p:cNvSpPr>
          <p:nvPr>
            <p:ph type="body" idx="17"/>
          </p:nvPr>
        </p:nvSpPr>
        <p:spPr>
          <a:xfrm>
            <a:off x="80010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4" name="Google Shape;164;p44"/>
          <p:cNvSpPr txBox="1">
            <a:spLocks noGrp="1"/>
          </p:cNvSpPr>
          <p:nvPr>
            <p:ph type="body" idx="18"/>
          </p:nvPr>
        </p:nvSpPr>
        <p:spPr>
          <a:xfrm>
            <a:off x="48577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5" name="Google Shape;165;p44"/>
          <p:cNvSpPr txBox="1">
            <a:spLocks noGrp="1"/>
          </p:cNvSpPr>
          <p:nvPr>
            <p:ph type="body" idx="19"/>
          </p:nvPr>
        </p:nvSpPr>
        <p:spPr>
          <a:xfrm>
            <a:off x="48577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6" name="Google Shape;166;p44"/>
          <p:cNvSpPr txBox="1">
            <a:spLocks noGrp="1"/>
          </p:cNvSpPr>
          <p:nvPr>
            <p:ph type="body" idx="20"/>
          </p:nvPr>
        </p:nvSpPr>
        <p:spPr>
          <a:xfrm>
            <a:off x="48577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7" name="Google Shape;167;p44"/>
          <p:cNvSpPr txBox="1">
            <a:spLocks noGrp="1"/>
          </p:cNvSpPr>
          <p:nvPr>
            <p:ph type="body" idx="21"/>
          </p:nvPr>
        </p:nvSpPr>
        <p:spPr>
          <a:xfrm>
            <a:off x="48577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8" name="Google Shape;168;p44"/>
          <p:cNvSpPr txBox="1">
            <a:spLocks noGrp="1"/>
          </p:cNvSpPr>
          <p:nvPr>
            <p:ph type="body" idx="22"/>
          </p:nvPr>
        </p:nvSpPr>
        <p:spPr>
          <a:xfrm>
            <a:off x="1714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9" name="Google Shape;169;p44"/>
          <p:cNvSpPr txBox="1">
            <a:spLocks noGrp="1"/>
          </p:cNvSpPr>
          <p:nvPr>
            <p:ph type="body" idx="23"/>
          </p:nvPr>
        </p:nvSpPr>
        <p:spPr>
          <a:xfrm>
            <a:off x="1714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0" name="Google Shape;170;p44"/>
          <p:cNvSpPr txBox="1">
            <a:spLocks noGrp="1"/>
          </p:cNvSpPr>
          <p:nvPr>
            <p:ph type="body" idx="24"/>
          </p:nvPr>
        </p:nvSpPr>
        <p:spPr>
          <a:xfrm>
            <a:off x="1714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1" name="Google Shape;171;p44"/>
          <p:cNvSpPr txBox="1">
            <a:spLocks noGrp="1"/>
          </p:cNvSpPr>
          <p:nvPr>
            <p:ph type="body" idx="25"/>
          </p:nvPr>
        </p:nvSpPr>
        <p:spPr>
          <a:xfrm>
            <a:off x="1714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فريق العمل">
  <p:cSld name="فريق العمل">
    <p:bg>
      <p:bgPr>
        <a:solidFill>
          <a:srgbClr val="12183F"/>
        </a:solidFill>
        <a:effectLst/>
      </p:bgPr>
    </p:bg>
    <p:spTree>
      <p:nvGrpSpPr>
        <p:cNvPr id="1"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75" name="Google Shape;175;p45"/>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6" name="Google Shape;176;p45"/>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7" name="Google Shape;177;p45"/>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8" name="Google Shape;178;p4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a:spLocks noGrp="1"/>
          </p:cNvSpPr>
          <p:nvPr>
            <p:ph type="pic" idx="3"/>
          </p:nvPr>
        </p:nvSpPr>
        <p:spPr>
          <a:xfrm>
            <a:off x="14192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1" name="Google Shape;181;p45"/>
          <p:cNvSpPr txBox="1">
            <a:spLocks noGrp="1"/>
          </p:cNvSpPr>
          <p:nvPr>
            <p:ph type="body" idx="4"/>
          </p:nvPr>
        </p:nvSpPr>
        <p:spPr>
          <a:xfrm>
            <a:off x="13716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2" name="Google Shape;182;p45"/>
          <p:cNvSpPr txBox="1">
            <a:spLocks noGrp="1"/>
          </p:cNvSpPr>
          <p:nvPr>
            <p:ph type="body" idx="5"/>
          </p:nvPr>
        </p:nvSpPr>
        <p:spPr>
          <a:xfrm>
            <a:off x="13716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3" name="Google Shape;183;p45"/>
          <p:cNvSpPr>
            <a:spLocks noGrp="1"/>
          </p:cNvSpPr>
          <p:nvPr>
            <p:ph type="pic" idx="6"/>
          </p:nvPr>
        </p:nvSpPr>
        <p:spPr>
          <a:xfrm>
            <a:off x="10191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4" name="Google Shape;184;p45"/>
          <p:cNvSpPr txBox="1">
            <a:spLocks noGrp="1"/>
          </p:cNvSpPr>
          <p:nvPr>
            <p:ph type="body" idx="7"/>
          </p:nvPr>
        </p:nvSpPr>
        <p:spPr>
          <a:xfrm>
            <a:off x="9715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5" name="Google Shape;185;p45"/>
          <p:cNvSpPr txBox="1">
            <a:spLocks noGrp="1"/>
          </p:cNvSpPr>
          <p:nvPr>
            <p:ph type="body" idx="8"/>
          </p:nvPr>
        </p:nvSpPr>
        <p:spPr>
          <a:xfrm>
            <a:off x="9715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6" name="Google Shape;186;p45"/>
          <p:cNvSpPr>
            <a:spLocks noGrp="1"/>
          </p:cNvSpPr>
          <p:nvPr>
            <p:ph type="pic" idx="9"/>
          </p:nvPr>
        </p:nvSpPr>
        <p:spPr>
          <a:xfrm>
            <a:off x="6191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7" name="Google Shape;187;p45"/>
          <p:cNvSpPr txBox="1">
            <a:spLocks noGrp="1"/>
          </p:cNvSpPr>
          <p:nvPr>
            <p:ph type="body" idx="13"/>
          </p:nvPr>
        </p:nvSpPr>
        <p:spPr>
          <a:xfrm>
            <a:off x="5715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8" name="Google Shape;188;p45"/>
          <p:cNvSpPr txBox="1">
            <a:spLocks noGrp="1"/>
          </p:cNvSpPr>
          <p:nvPr>
            <p:ph type="body" idx="14"/>
          </p:nvPr>
        </p:nvSpPr>
        <p:spPr>
          <a:xfrm>
            <a:off x="5715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9" name="Google Shape;189;p45"/>
          <p:cNvSpPr>
            <a:spLocks noGrp="1"/>
          </p:cNvSpPr>
          <p:nvPr>
            <p:ph type="pic" idx="15"/>
          </p:nvPr>
        </p:nvSpPr>
        <p:spPr>
          <a:xfrm>
            <a:off x="2190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90" name="Google Shape;190;p45"/>
          <p:cNvSpPr txBox="1">
            <a:spLocks noGrp="1"/>
          </p:cNvSpPr>
          <p:nvPr>
            <p:ph type="body" idx="16"/>
          </p:nvPr>
        </p:nvSpPr>
        <p:spPr>
          <a:xfrm>
            <a:off x="1714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1" name="Google Shape;191;p45"/>
          <p:cNvSpPr txBox="1">
            <a:spLocks noGrp="1"/>
          </p:cNvSpPr>
          <p:nvPr>
            <p:ph type="body" idx="17"/>
          </p:nvPr>
        </p:nvSpPr>
        <p:spPr>
          <a:xfrm>
            <a:off x="1714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أربع نقاط فاتحة">
  <p:cSld name="أربع نقاط فاتحة">
    <p:bg>
      <p:bgPr>
        <a:solidFill>
          <a:srgbClr val="F2F4FF"/>
        </a:solidFill>
        <a:effectLst/>
      </p:bgPr>
    </p:bg>
    <p:spTree>
      <p:nvGrpSpPr>
        <p:cNvPr id="1"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a:stretch/>
        </p:blipFill>
        <p:spPr>
          <a:xfrm>
            <a:off x="1337187" y="685800"/>
            <a:ext cx="2888226" cy="895350"/>
          </a:xfrm>
          <a:prstGeom prst="rect">
            <a:avLst/>
          </a:prstGeom>
          <a:noFill/>
          <a:ln>
            <a:noFill/>
          </a:ln>
        </p:spPr>
      </p:pic>
      <p:sp>
        <p:nvSpPr>
          <p:cNvPr id="195" name="Google Shape;195;p46"/>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6" name="Google Shape;196;p46"/>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7" name="Google Shape;197;p46"/>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8" name="Google Shape;198;p46"/>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a:spLocks noGrp="1"/>
          </p:cNvSpPr>
          <p:nvPr>
            <p:ph type="body" idx="3"/>
          </p:nvPr>
        </p:nvSpPr>
        <p:spPr>
          <a:xfrm>
            <a:off x="9810750" y="3952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1" name="Google Shape;201;p46"/>
          <p:cNvSpPr txBox="1">
            <a:spLocks noGrp="1"/>
          </p:cNvSpPr>
          <p:nvPr>
            <p:ph type="body" idx="4"/>
          </p:nvPr>
        </p:nvSpPr>
        <p:spPr>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2" name="Google Shape;202;p46"/>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3" name="Google Shape;203;p46"/>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4" name="Google Shape;204;p46"/>
          <p:cNvSpPr txBox="1">
            <a:spLocks noGrp="1"/>
          </p:cNvSpPr>
          <p:nvPr>
            <p:ph type="body" idx="7"/>
          </p:nvPr>
        </p:nvSpPr>
        <p:spPr>
          <a:xfrm>
            <a:off x="9810750" y="6619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5" name="Google Shape;205;p46"/>
          <p:cNvSpPr txBox="1">
            <a:spLocks noGrp="1"/>
          </p:cNvSpPr>
          <p:nvPr>
            <p:ph type="body" idx="8"/>
          </p:nvPr>
        </p:nvSpPr>
        <p:spPr>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6" name="Google Shape;206;p46"/>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7" name="Google Shape;207;p46"/>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جدول فاتح">
  <p:cSld name="جدول فاتح">
    <p:bg>
      <p:bgPr>
        <a:solidFill>
          <a:srgbClr val="F2F4FF"/>
        </a:solidFill>
        <a:effectLst/>
      </p:bgPr>
    </p:bg>
    <p:spTree>
      <p:nvGrpSpPr>
        <p:cNvPr id="1"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a:stretch/>
        </p:blipFill>
        <p:spPr>
          <a:xfrm>
            <a:off x="1337187" y="685800"/>
            <a:ext cx="2888226" cy="895350"/>
          </a:xfrm>
          <a:prstGeom prst="rect">
            <a:avLst/>
          </a:prstGeom>
          <a:noFill/>
          <a:ln>
            <a:noFill/>
          </a:ln>
        </p:spPr>
      </p:pic>
      <p:sp>
        <p:nvSpPr>
          <p:cNvPr id="211" name="Google Shape;211;p47"/>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2" name="Google Shape;212;p47"/>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3" name="Google Shape;213;p47"/>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4" name="Google Shape;214;p47"/>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a:spLocks noGrp="1"/>
          </p:cNvSpPr>
          <p:nvPr>
            <p:ph type="body" idx="3"/>
          </p:nvPr>
        </p:nvSpPr>
        <p:spPr>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7" name="Google Shape;217;p47"/>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مقارنة بالأعمدة">
  <p:cSld name="مقارنة بالأعمدة">
    <p:bg>
      <p:bgPr>
        <a:solidFill>
          <a:srgbClr val="12183F"/>
        </a:solidFill>
        <a:effectLst/>
      </p:bgPr>
    </p:bg>
    <p:spTree>
      <p:nvGrpSpPr>
        <p:cNvPr id="1"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21" name="Google Shape;221;p48"/>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2" name="Google Shape;222;p48"/>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3" name="Google Shape;223;p48"/>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4" name="Google Shape;224;p48"/>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a:spLocks noGrp="1"/>
          </p:cNvSpPr>
          <p:nvPr>
            <p:ph type="body" idx="3"/>
          </p:nvPr>
        </p:nvSpPr>
        <p:spPr>
          <a:xfrm>
            <a:off x="2095500" y="8905875"/>
            <a:ext cx="1419225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7" name="Google Shape;227;p48"/>
          <p:cNvSpPr>
            <a:spLocks noGrp="1"/>
          </p:cNvSpPr>
          <p:nvPr>
            <p:ph type="chart" idx="4"/>
          </p:nvPr>
        </p:nvSpPr>
        <p:spPr>
          <a:xfrm>
            <a:off x="2095500" y="3905250"/>
            <a:ext cx="14192250" cy="4857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توزيع نسبي">
  <p:cSld name="توزيع نسبي">
    <p:bg>
      <p:bgPr>
        <a:solidFill>
          <a:srgbClr val="12183F"/>
        </a:solidFill>
        <a:effectLst/>
      </p:bgPr>
    </p:bg>
    <p:spTree>
      <p:nvGrpSpPr>
        <p:cNvPr id="1"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31" name="Google Shape;231;p49"/>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2" name="Google Shape;232;p49"/>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3" name="Google Shape;233;p49"/>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4" name="Google Shape;234;p49"/>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a:spLocks noGrp="1"/>
          </p:cNvSpPr>
          <p:nvPr>
            <p:ph type="body" idx="3"/>
          </p:nvPr>
        </p:nvSpPr>
        <p:spPr>
          <a:xfrm>
            <a:off x="1714500" y="890587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7" name="Google Shape;237;p49"/>
          <p:cNvSpPr>
            <a:spLocks noGrp="1"/>
          </p:cNvSpPr>
          <p:nvPr>
            <p:ph type="chart" idx="4"/>
          </p:nvPr>
        </p:nvSpPr>
        <p:spPr>
          <a:xfrm>
            <a:off x="2095500" y="3619500"/>
            <a:ext cx="14097000" cy="5381625"/>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آلية العمل">
  <p:cSld name="آلية العمل">
    <p:bg>
      <p:bgPr>
        <a:solidFill>
          <a:srgbClr val="12183F"/>
        </a:solidFill>
        <a:effectLst/>
      </p:bgPr>
    </p:bg>
    <p:spTree>
      <p:nvGrpSpPr>
        <p:cNvPr id="1"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41" name="Google Shape;241;p50"/>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2" name="Google Shape;242;p50"/>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3" name="Google Shape;243;p50"/>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4" name="Google Shape;244;p50"/>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a:spLocks noGrp="1"/>
          </p:cNvSpPr>
          <p:nvPr>
            <p:ph type="body" idx="3"/>
          </p:nvPr>
        </p:nvSpPr>
        <p:spPr>
          <a:xfrm>
            <a:off x="13716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7" name="Google Shape;247;p50"/>
          <p:cNvSpPr txBox="1">
            <a:spLocks noGrp="1"/>
          </p:cNvSpPr>
          <p:nvPr>
            <p:ph type="body" idx="4"/>
          </p:nvPr>
        </p:nvSpPr>
        <p:spPr>
          <a:xfrm>
            <a:off x="9715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8" name="Google Shape;248;p50"/>
          <p:cNvSpPr txBox="1">
            <a:spLocks noGrp="1"/>
          </p:cNvSpPr>
          <p:nvPr>
            <p:ph type="body" idx="5"/>
          </p:nvPr>
        </p:nvSpPr>
        <p:spPr>
          <a:xfrm>
            <a:off x="5715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9" name="Google Shape;249;p50"/>
          <p:cNvSpPr txBox="1">
            <a:spLocks noGrp="1"/>
          </p:cNvSpPr>
          <p:nvPr>
            <p:ph type="body" idx="6"/>
          </p:nvPr>
        </p:nvSpPr>
        <p:spPr>
          <a:xfrm>
            <a:off x="1714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صورة كبيرة">
  <p:cSld name="صورة كبيرة">
    <p:bg>
      <p:bgPr>
        <a:solidFill>
          <a:srgbClr val="12183F"/>
        </a:solidFill>
        <a:effectLst/>
      </p:bgPr>
    </p:bg>
    <p:spTree>
      <p:nvGrpSpPr>
        <p:cNvPr id="1"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a:spLocks noGrp="1"/>
          </p:cNvSpPr>
          <p:nvPr>
            <p:ph type="pic" idx="2"/>
          </p:nvPr>
        </p:nvSpPr>
        <p:spPr>
          <a:xfrm>
            <a:off x="1047750" y="666750"/>
            <a:ext cx="16192500" cy="6953250"/>
          </a:xfrm>
          <a:prstGeom prst="rect">
            <a:avLst/>
          </a:prstGeom>
          <a:solidFill>
            <a:srgbClr val="161D48"/>
          </a:solidFill>
          <a:ln w="11425" cap="flat" cmpd="sng">
            <a:solidFill>
              <a:srgbClr val="4A5590"/>
            </a:solidFill>
            <a:prstDash val="solid"/>
            <a:round/>
            <a:headEnd type="none" w="sm" len="sm"/>
            <a:tailEnd type="none" w="sm" len="sm"/>
          </a:ln>
        </p:spPr>
      </p:sp>
      <p:sp>
        <p:nvSpPr>
          <p:cNvPr id="255" name="Google Shape;255;p51"/>
          <p:cNvSpPr txBox="1">
            <a:spLocks noGrp="1"/>
          </p:cNvSpPr>
          <p:nvPr>
            <p:ph type="title"/>
          </p:nvPr>
        </p:nvSpPr>
        <p:spPr>
          <a:xfrm>
            <a:off x="2190750" y="7962900"/>
            <a:ext cx="14763750" cy="8382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56" name="Google Shape;256;p51"/>
          <p:cNvSpPr txBox="1">
            <a:spLocks noGrp="1"/>
          </p:cNvSpPr>
          <p:nvPr>
            <p:ph type="body" idx="1"/>
          </p:nvPr>
        </p:nvSpPr>
        <p:spPr>
          <a:xfrm>
            <a:off x="2190750" y="8896350"/>
            <a:ext cx="14763750" cy="4286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معرض الصور">
  <p:cSld name="معرض الصور">
    <p:bg>
      <p:bgPr>
        <a:solidFill>
          <a:srgbClr val="12183F"/>
        </a:solidFill>
        <a:effectLst/>
      </p:bgPr>
    </p:bg>
    <p:spTree>
      <p:nvGrpSpPr>
        <p:cNvPr id="1"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60" name="Google Shape;260;p52"/>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1" name="Google Shape;261;p52"/>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2" name="Google Shape;262;p52"/>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a:spLocks noGrp="1"/>
          </p:cNvSpPr>
          <p:nvPr>
            <p:ph type="pic" idx="2"/>
          </p:nvPr>
        </p:nvSpPr>
        <p:spPr>
          <a:xfrm>
            <a:off x="12382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5" name="Google Shape;265;p52"/>
          <p:cNvSpPr txBox="1">
            <a:spLocks noGrp="1"/>
          </p:cNvSpPr>
          <p:nvPr>
            <p:ph type="body" idx="3"/>
          </p:nvPr>
        </p:nvSpPr>
        <p:spPr>
          <a:xfrm>
            <a:off x="12382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6" name="Google Shape;266;p52"/>
          <p:cNvSpPr>
            <a:spLocks noGrp="1"/>
          </p:cNvSpPr>
          <p:nvPr>
            <p:ph type="pic" idx="4"/>
          </p:nvPr>
        </p:nvSpPr>
        <p:spPr>
          <a:xfrm>
            <a:off x="7048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7" name="Google Shape;267;p52"/>
          <p:cNvSpPr txBox="1">
            <a:spLocks noGrp="1"/>
          </p:cNvSpPr>
          <p:nvPr>
            <p:ph type="body" idx="5"/>
          </p:nvPr>
        </p:nvSpPr>
        <p:spPr>
          <a:xfrm>
            <a:off x="7048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8" name="Google Shape;268;p52"/>
          <p:cNvSpPr>
            <a:spLocks noGrp="1"/>
          </p:cNvSpPr>
          <p:nvPr>
            <p:ph type="pic" idx="6"/>
          </p:nvPr>
        </p:nvSpPr>
        <p:spPr>
          <a:xfrm>
            <a:off x="1714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9" name="Google Shape;269;p52"/>
          <p:cNvSpPr txBox="1">
            <a:spLocks noGrp="1"/>
          </p:cNvSpPr>
          <p:nvPr>
            <p:ph type="body" idx="7"/>
          </p:nvPr>
        </p:nvSpPr>
        <p:spPr>
          <a:xfrm>
            <a:off x="1714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أيقونات الهوية">
  <p:cSld name="أيقونات الهوية">
    <p:bg>
      <p:bgPr>
        <a:solidFill>
          <a:srgbClr val="12183F"/>
        </a:solidFill>
        <a:effectLst/>
      </p:bgPr>
    </p:bg>
    <p:spTree>
      <p:nvGrpSpPr>
        <p:cNvPr id="1"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73" name="Google Shape;273;p53"/>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4" name="Google Shape;274;p53"/>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5" name="Google Shape;275;p53"/>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6" name="Google Shape;276;p53"/>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a:spLocks noGrp="1"/>
          </p:cNvSpPr>
          <p:nvPr>
            <p:ph type="body" idx="3"/>
          </p:nvPr>
        </p:nvSpPr>
        <p:spPr>
          <a:xfrm>
            <a:off x="13716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9" name="Google Shape;279;p53"/>
          <p:cNvSpPr txBox="1">
            <a:spLocks noGrp="1"/>
          </p:cNvSpPr>
          <p:nvPr>
            <p:ph type="body" idx="4"/>
          </p:nvPr>
        </p:nvSpPr>
        <p:spPr>
          <a:xfrm>
            <a:off x="13716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0" name="Google Shape;280;p53"/>
          <p:cNvSpPr txBox="1">
            <a:spLocks noGrp="1"/>
          </p:cNvSpPr>
          <p:nvPr>
            <p:ph type="body" idx="5"/>
          </p:nvPr>
        </p:nvSpPr>
        <p:spPr>
          <a:xfrm>
            <a:off x="9715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1" name="Google Shape;281;p53"/>
          <p:cNvSpPr txBox="1">
            <a:spLocks noGrp="1"/>
          </p:cNvSpPr>
          <p:nvPr>
            <p:ph type="body" idx="6"/>
          </p:nvPr>
        </p:nvSpPr>
        <p:spPr>
          <a:xfrm>
            <a:off x="9715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2" name="Google Shape;282;p53"/>
          <p:cNvSpPr txBox="1">
            <a:spLocks noGrp="1"/>
          </p:cNvSpPr>
          <p:nvPr>
            <p:ph type="body" idx="7"/>
          </p:nvPr>
        </p:nvSpPr>
        <p:spPr>
          <a:xfrm>
            <a:off x="5715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3" name="Google Shape;283;p53"/>
          <p:cNvSpPr txBox="1">
            <a:spLocks noGrp="1"/>
          </p:cNvSpPr>
          <p:nvPr>
            <p:ph type="body" idx="8"/>
          </p:nvPr>
        </p:nvSpPr>
        <p:spPr>
          <a:xfrm>
            <a:off x="5715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4" name="Google Shape;284;p53"/>
          <p:cNvSpPr txBox="1">
            <a:spLocks noGrp="1"/>
          </p:cNvSpPr>
          <p:nvPr>
            <p:ph type="body" idx="9"/>
          </p:nvPr>
        </p:nvSpPr>
        <p:spPr>
          <a:xfrm>
            <a:off x="1714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5" name="Google Shape;285;p53"/>
          <p:cNvSpPr txBox="1">
            <a:spLocks noGrp="1"/>
          </p:cNvSpPr>
          <p:nvPr>
            <p:ph type="body" idx="13"/>
          </p:nvPr>
        </p:nvSpPr>
        <p:spPr>
          <a:xfrm>
            <a:off x="1714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مقارنة خيارين">
  <p:cSld name="مقارنة خيارين">
    <p:bg>
      <p:bgPr>
        <a:solidFill>
          <a:srgbClr val="12183F"/>
        </a:solidFill>
        <a:effectLst/>
      </p:bgPr>
    </p:bg>
    <p:spTree>
      <p:nvGrpSpPr>
        <p:cNvPr id="1"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89" name="Google Shape;289;p54"/>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0" name="Google Shape;290;p54"/>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1" name="Google Shape;291;p54"/>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2" name="Google Shape;292;p54"/>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a:spLocks noGrp="1"/>
          </p:cNvSpPr>
          <p:nvPr>
            <p:ph type="body" idx="3"/>
          </p:nvPr>
        </p:nvSpPr>
        <p:spPr>
          <a:xfrm>
            <a:off x="10001250" y="3857625"/>
            <a:ext cx="714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5" name="Google Shape;295;p54"/>
          <p:cNvSpPr txBox="1">
            <a:spLocks noGrp="1"/>
          </p:cNvSpPr>
          <p:nvPr>
            <p:ph type="body" idx="4"/>
          </p:nvPr>
        </p:nvSpPr>
        <p:spPr>
          <a:xfrm>
            <a:off x="1000125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6" name="Google Shape;296;p54"/>
          <p:cNvSpPr txBox="1">
            <a:spLocks noGrp="1"/>
          </p:cNvSpPr>
          <p:nvPr>
            <p:ph type="body" idx="5"/>
          </p:nvPr>
        </p:nvSpPr>
        <p:spPr>
          <a:xfrm>
            <a:off x="1714500" y="3857625"/>
            <a:ext cx="714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7" name="Google Shape;297;p54"/>
          <p:cNvSpPr txBox="1">
            <a:spLocks noGrp="1"/>
          </p:cNvSpPr>
          <p:nvPr>
            <p:ph type="body" idx="6"/>
          </p:nvPr>
        </p:nvSpPr>
        <p:spPr>
          <a:xfrm>
            <a:off x="171450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8" name="Google Shape;298;p54"/>
          <p:cNvSpPr txBox="1">
            <a:spLocks noGrp="1"/>
          </p:cNvSpPr>
          <p:nvPr>
            <p:ph type="body" idx="7"/>
          </p:nvPr>
        </p:nvSpPr>
        <p:spPr>
          <a:xfrm>
            <a:off x="1000125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9" name="Google Shape;299;p54"/>
          <p:cNvSpPr txBox="1">
            <a:spLocks noGrp="1"/>
          </p:cNvSpPr>
          <p:nvPr>
            <p:ph type="body" idx="8"/>
          </p:nvPr>
        </p:nvSpPr>
        <p:spPr>
          <a:xfrm>
            <a:off x="171450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فارغة داكنة">
  <p:cSld name="فارغة داكنة">
    <p:bg>
      <p:bgPr>
        <a:solidFill>
          <a:srgbClr val="12183F"/>
        </a:solidFill>
        <a:effectLst/>
      </p:bgPr>
    </p:bg>
    <p:spTree>
      <p:nvGrpSpPr>
        <p:cNvPr id="1"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فارغة فاتحة">
  <p:cSld name="فارغة فاتحة">
    <p:bg>
      <p:bgPr>
        <a:solidFill>
          <a:srgbClr val="F2F4FF"/>
        </a:solidFill>
        <a:effectLst/>
      </p:bgPr>
    </p:bg>
    <p:spTree>
      <p:nvGrpSpPr>
        <p:cNvPr id="1"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ختام العرض">
  <p:cSld name="ختام العرض">
    <p:bg>
      <p:bgPr>
        <a:solidFill>
          <a:srgbClr val="12183F"/>
        </a:solidFill>
        <a:effectLst/>
      </p:bgPr>
    </p:bg>
    <p:spTree>
      <p:nvGrpSpPr>
        <p:cNvPr id="1"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l="4300" t="16000" r="69700" b="16000"/>
          <a:stretch/>
        </p:blipFill>
        <p:spPr>
          <a:xfrm>
            <a:off x="4857750" y="8629650"/>
            <a:ext cx="3810000" cy="1476375"/>
          </a:xfrm>
          <a:prstGeom prst="rect">
            <a:avLst/>
          </a:prstGeom>
          <a:noFill/>
          <a:ln>
            <a:noFill/>
          </a:ln>
        </p:spPr>
      </p:pic>
      <p:sp>
        <p:nvSpPr>
          <p:cNvPr id="315" name="Google Shape;315;p57"/>
          <p:cNvSpPr txBox="1">
            <a:spLocks noGrp="1"/>
          </p:cNvSpPr>
          <p:nvPr>
            <p:ph type="title"/>
          </p:nvPr>
        </p:nvSpPr>
        <p:spPr>
          <a:xfrm>
            <a:off x="3810000" y="4048125"/>
            <a:ext cx="10668000" cy="1428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6" name="Google Shape;316;p57"/>
          <p:cNvSpPr txBox="1">
            <a:spLocks noGrp="1"/>
          </p:cNvSpPr>
          <p:nvPr>
            <p:ph type="body" idx="1"/>
          </p:nvPr>
        </p:nvSpPr>
        <p:spPr>
          <a:xfrm>
            <a:off x="3810000" y="5905500"/>
            <a:ext cx="1066800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7" name="Google Shape;317;p57"/>
          <p:cNvSpPr txBox="1">
            <a:spLocks noGrp="1"/>
          </p:cNvSpPr>
          <p:nvPr>
            <p:ph type="body" idx="2"/>
          </p:nvPr>
        </p:nvSpPr>
        <p:spPr>
          <a:xfrm>
            <a:off x="3810000" y="7000875"/>
            <a:ext cx="10668000" cy="666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 Id="rId5" Type="http://schemas.openxmlformats.org/officeDocument/2006/relationships/image" Target="../media/tmn-journey.jp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png"/><Relationship Id="rId5" Type="http://schemas.openxmlformats.org/officeDocument/2006/relationships/image" Target="../media/tmn-composer.jp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0.xml"/><Relationship Id="rId4" Type="http://schemas.openxmlformats.org/officeDocument/2006/relationships/image" Target="../media/image2.png"/><Relationship Id="rId5" Type="http://schemas.openxmlformats.org/officeDocument/2006/relationships/image" Target="../media/tmn-example-input.jpg"/><Relationship Id="rId6" Type="http://schemas.openxmlformats.org/officeDocument/2006/relationships/image" Target="../media/tmn-example-topics.jpg"/><Relationship Id="rId7" Type="http://schemas.openxmlformats.org/officeDocument/2006/relationships/image" Target="../media/tmn-example-verse.jpg"/></Relationships>
</file>

<file path=ppt/slides/_rels/slide2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6.png"/><Relationship Id="rId7"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5.xml"/><Relationship Id="rId6" Type="http://schemas.openxmlformats.org/officeDocument/2006/relationships/image" Target="../media/image11.png"/><Relationship Id="rId5" Type="http://schemas.openxmlformats.org/officeDocument/2006/relationships/image" Target="../media/image3.png"/><Relationship Id="rId10" Type="http://schemas.openxmlformats.org/officeDocument/2006/relationships/image" Target="../media/image20.png"/><Relationship Id="rId4" Type="http://schemas.openxmlformats.org/officeDocument/2006/relationships/image" Target="../media/image2.png"/><Relationship Id="rId9"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image" Target="../media/image2.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image" Target="../media/image12.png"/><Relationship Id="rId5" Type="http://schemas.openxmlformats.org/officeDocument/2006/relationships/notesSlide" Target="../notesSlides/notesSlide33.xml"/></Relationships>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a:spLocks noGrp="1"/>
          </p:cNvSpPr>
          <p:nvPr>
            <p:ph type="title"/>
          </p:nvPr>
        </p:nvSpPr>
        <p:spPr>
          <a:xfrm>
            <a:off x="7791450" y="3524250"/>
            <a:ext cx="9048900" cy="1333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450"/>
              <a:buNone/>
            </a:pPr>
            <a:r>
              <a:rPr lang="ar-SA" sz="6450" b="1">
                <a:solidFill>
                  <a:srgbClr val="F2F4FF"/>
                </a:solidFill>
                <a:latin typeface="Readex Pro"/>
                <a:ea typeface="Readex Pro"/>
                <a:cs typeface="Readex Pro"/>
                <a:sym typeface="Readex Pro"/>
              </a:rPr>
              <a:t>طمأنينة | Tamaninah</a:t>
            </a:r>
            <a:endParaRPr/>
          </a:p>
        </p:txBody>
      </p:sp>
      <p:sp>
        <p:nvSpPr>
          <p:cNvPr id="487" name="Google Shape;487;p8"/>
          <p:cNvSpPr txBox="1">
            <a:spLocks noGrp="1"/>
          </p:cNvSpPr>
          <p:nvPr>
            <p:ph type="body" idx="1"/>
          </p:nvPr>
        </p:nvSpPr>
        <p:spPr>
          <a:xfrm>
            <a:off x="7791450" y="5334000"/>
            <a:ext cx="9048900" cy="16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3300"/>
              <a:buNone/>
            </a:pPr>
            <a:r>
              <a:rPr lang="ar-SA" sz="3300" b="0">
                <a:solidFill>
                  <a:srgbClr val="2EF2C2"/>
                </a:solidFill>
                <a:latin typeface="Readex Pro"/>
                <a:ea typeface="Readex Pro"/>
                <a:cs typeface="Readex Pro"/>
                <a:sym typeface="Readex Pro"/>
              </a:rPr>
              <a:t>من تجربة تعيشها… إلى معرفة إسلامية تكتشفها من مصادرها الموثوقة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spcFirstLastPara="1" wrap="square" lIns="91425" tIns="91425" rIns="91425" bIns="91425" anchor="ctr" anchorCtr="0">
            <a:noAutofit/>
          </a:bodyPr>
          <a:lstStyle/>
          <a:p>
            <a:pPr marL="0" lvl="0" indent="0" algn="r" rtl="1">
              <a:lnSpc>
                <a:spcPct val="115000"/>
              </a:lnSpc>
              <a:spcBef>
                <a:spcPts val="0"/>
              </a:spcBef>
              <a:spcAft>
                <a:spcPts val="0"/>
              </a:spcAft>
              <a:buNone/>
            </a:pPr>
            <a:endParaRPr/>
          </a:p>
        </p:txBody>
      </p:sp>
      <p:sp>
        <p:nvSpPr>
          <p:cNvPr id="489" name="Google Shape;489;p8"/>
          <p:cNvSpPr/>
          <p:nvPr/>
        </p:nvSpPr>
        <p:spPr>
          <a:xfrm>
            <a:off x="8575130" y="9120188"/>
            <a:ext cx="8255000" cy="347700"/>
          </a:xfrm>
          <a:prstGeom prst="rect">
            <a:avLst/>
          </a:prstGeom>
          <a:noFill/>
          <a:ln>
            <a:noFill/>
          </a:ln>
        </p:spPr>
        <p:txBody>
          <a:bodyPr spcFirstLastPara="1" wrap="square" lIns="25400" tIns="25400" rIns="25400" bIns="25400" anchor="ctr" anchorCtr="0">
            <a:noAutofit/>
          </a:bodyPr>
          <a:lstStyle/>
          <a:p>
            <a:pPr marL="0" marR="0" lvl="0" indent="0" algn="r" rtl="1">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صاحبة الفكرة: المهندسة يارا عبدالرحيم الطويرقي</a:t>
            </a:r>
            <a:endParaRPr sz="1950" i="0" u="none" strike="noStrike" cap="non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spcFirstLastPara="1" wrap="square" lIns="25400" tIns="25400" rIns="25400" bIns="25400" anchor="ctr" anchorCtr="0">
            <a:noAutofit/>
          </a:bodyPr>
          <a:lstStyle/>
          <a:p>
            <a:pPr marL="0" marR="0" lvl="0" indent="0" algn="l" rtl="1">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أكتوبر 2026</a:t>
            </a:r>
            <a:endParaRPr sz="1950" i="0" u="none" strike="noStrike" cap="non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a:stretch/>
        </p:blipFill>
        <p:spPr>
          <a:xfrm>
            <a:off x="14954250" y="840995"/>
            <a:ext cx="2190750" cy="1385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37" name="Google Shape;537;p1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المشكلة</a:t>
            </a:r>
            <a:endParaRPr/>
          </a:p>
        </p:txBody>
      </p:sp>
      <p:sp>
        <p:nvSpPr>
          <p:cNvPr id="538" name="Google Shape;538;p1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من أين أبدأ؟</a:t>
            </a:r>
            <a:endParaRPr/>
          </a:p>
        </p:txBody>
      </p:sp>
      <p:sp>
        <p:nvSpPr>
          <p:cNvPr id="539" name="Google Shape;539;p1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المشكلة ليست في وجود السؤال… بل في نقطة البداية</a:t>
            </a:r>
            <a:endParaRPr/>
          </a:p>
        </p:txBody>
      </p:sp>
      <p:sp>
        <p:nvSpPr>
          <p:cNvPr id="540" name="Google Shape;540;p1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11</a:t>
            </a:fld>
            <a:endParaRPr/>
          </a:p>
        </p:txBody>
      </p:sp>
      <p:sp>
        <p:nvSpPr>
          <p:cNvPr id="541" name="Google Shape;541;p11"/>
          <p:cNvSpPr txBox="1">
            <a:spLocks noGrp="1"/>
          </p:cNvSpPr>
          <p:nvPr>
            <p:ph type="body" idx="3"/>
          </p:nvPr>
        </p:nvSpPr>
        <p:spPr>
          <a:xfrm>
            <a:off x="9505950" y="3952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تجربة بلا اسم</a:t>
            </a:r>
            <a:endParaRPr/>
          </a:p>
        </p:txBody>
      </p:sp>
      <p:sp>
        <p:nvSpPr>
          <p:cNvPr id="542" name="Google Shape;542;p11"/>
          <p:cNvSpPr txBox="1">
            <a:spLocks noGrp="1"/>
          </p:cNvSpPr>
          <p:nvPr>
            <p:ph type="body" idx="4"/>
          </p:nvPr>
        </p:nvSpPr>
        <p:spPr>
          <a:xfrm>
            <a:off x="9505950" y="4657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يعيش الإنسان تجربة أو يحمل سؤالًا، ولا يعرف اسم الموضوع الذي يبحث عنه</a:t>
            </a:r>
            <a:endParaRPr/>
          </a:p>
        </p:txBody>
      </p:sp>
      <p:sp>
        <p:nvSpPr>
          <p:cNvPr id="543" name="Google Shape;543;p11"/>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بحث يفترض أنك تعرف</a:t>
            </a:r>
            <a:endParaRPr/>
          </a:p>
        </p:txBody>
      </p:sp>
      <p:sp>
        <p:nvSpPr>
          <p:cNvPr id="544" name="Google Shape;544;p11"/>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المواقع الإسلامية تفترض أنك تعرف ما تبحث عنه</a:t>
            </a:r>
            <a:endParaRPr/>
          </a:p>
        </p:txBody>
      </p:sp>
      <p:sp>
        <p:nvSpPr>
          <p:cNvPr id="545" name="Google Shape;545;p11"/>
          <p:cNvSpPr txBox="1">
            <a:spLocks noGrp="1"/>
          </p:cNvSpPr>
          <p:nvPr>
            <p:ph type="body" idx="7"/>
          </p:nvPr>
        </p:nvSpPr>
        <p:spPr>
          <a:xfrm>
            <a:off x="9505950" y="6619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إجابات بلا مصدر</a:t>
            </a:r>
            <a:endParaRPr/>
          </a:p>
        </p:txBody>
      </p:sp>
      <p:sp>
        <p:nvSpPr>
          <p:cNvPr id="546" name="Google Shape;546;p11"/>
          <p:cNvSpPr txBox="1">
            <a:spLocks noGrp="1"/>
          </p:cNvSpPr>
          <p:nvPr>
            <p:ph type="body" idx="8"/>
          </p:nvPr>
        </p:nvSpPr>
        <p:spPr>
          <a:xfrm>
            <a:off x="9505950" y="7324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روبوتات المحادثة العامة تولّد نصوصًا شرعية بلا مصدر، وقد تخطئ في الآية أو الحديث</a:t>
            </a:r>
            <a:endParaRPr/>
          </a:p>
        </p:txBody>
      </p:sp>
      <p:sp>
        <p:nvSpPr>
          <p:cNvPr id="547" name="Google Shape;547;p11"/>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فجوة بين التجربة والمعرفة</a:t>
            </a:r>
            <a:endParaRPr/>
          </a:p>
        </p:txBody>
      </p:sp>
      <p:sp>
        <p:nvSpPr>
          <p:cNvPr id="548" name="Google Shape;548;p11"/>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لا طريق واضح يربط ما يعيشه الإنسان بمعرفة إسلامية موثوقة</a:t>
            </a:r>
            <a:endParaRPr/>
          </a:p>
        </p:txBody>
      </p:sp>
      <p:sp>
        <p:nvSpPr>
          <p:cNvPr id="549" name="Google Shape;549;p11"/>
          <p:cNvSpPr/>
          <p:nvPr/>
        </p:nvSpPr>
        <p:spPr>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73" name="Google Shape;573;p13"/>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تجربة المستفيد والتواصل والإتاحة · 10%</a:t>
            </a:r>
            <a:endParaRPr/>
          </a:p>
        </p:txBody>
      </p:sp>
      <p:sp>
        <p:nvSpPr>
          <p:cNvPr id="574" name="Google Shape;574;p13"/>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رحلة تُكشف على مراحل</a:t>
            </a:r>
            <a:endParaRPr/>
          </a:p>
        </p:txBody>
      </p:sp>
      <p:sp>
        <p:nvSpPr>
          <p:cNvPr id="575" name="Google Shape;575;p1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13</a:t>
            </a:fld>
            <a:endParaRPr/>
          </a:p>
        </p:txBody>
      </p:sp>
      <p:pic>
        <p:nvPicPr>
          <p:cNvPr id="576" name="Screenshot tmn-journey" descr="مرحلة من رحلة التعلّم في طمأنينة كما تظهر في النسخة الحالية"/>
          <p:cNvPicPr>
            <a:picLocks noGrp="1" noChangeAspect="1"/>
          </p:cNvPicPr>
          <p:nvPr>
            <p:ph type="pic" idx="2"/>
          </p:nvPr>
        </p:nvPicPr>
        <p:blipFill>
          <a:blip r:embed="rId5"/>
          <a:srcRect/>
          <a:stretch>
            <a:fillRect/>
          </a:stretch>
        </p:blipFill>
        <p:spPr>
          <a:xfrm>
            <a:off x="1428750" y="4048125"/>
            <a:ext cx="8382000" cy="4714800"/>
          </a:xfrm>
          <a:prstGeom prst="rect">
            <a:avLst/>
          </a:prstGeom>
          <a:ln w="11425" cap="flat" cmpd="sng">
            <a:solidFill>
              <a:srgbClr val="4A5590"/>
            </a:solidFill>
            <a:prstDash val="solid"/>
            <a:round/>
            <a:headEnd type="none" w="sm" len="sm"/>
            <a:tailEnd type="none" w="sm" len="sm"/>
          </a:ln>
        </p:spPr>
      </p:pic>
      <p:sp>
        <p:nvSpPr>
          <p:cNvPr id="577" name="Google Shape;577;p13"/>
          <p:cNvSpPr txBox="1">
            <a:spLocks noGrp="1"/>
          </p:cNvSpPr>
          <p:nvPr>
            <p:ph type="body" idx="3"/>
          </p:nvPr>
        </p:nvSpPr>
        <p:spPr>
          <a:xfrm>
            <a:off x="10458450" y="4095750"/>
            <a:ext cx="6381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ما الذي نراه؟</a:t>
            </a:r>
            <a:endParaRPr/>
          </a:p>
        </p:txBody>
      </p:sp>
      <p:sp>
        <p:nvSpPr>
          <p:cNvPr id="578" name="Google Shape;578;p13"/>
          <p:cNvSpPr txBox="1">
            <a:spLocks noGrp="1"/>
          </p:cNvSpPr>
          <p:nvPr>
            <p:ph type="body" idx="4"/>
          </p:nvPr>
        </p:nvSpPr>
        <p:spPr>
          <a:xfrm>
            <a:off x="10458450" y="4800600"/>
            <a:ext cx="6381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آية تُضاء عبارتها، ثم تفسيرها وحديث صحيح وموقف من السيرة، وكل نص يظهر مع مصدره</a:t>
            </a:r>
            <a:endParaRPr/>
          </a:p>
        </p:txBody>
      </p:sp>
      <p:sp>
        <p:nvSpPr>
          <p:cNvPr id="579" name="Google Shape;579;p13"/>
          <p:cNvSpPr txBox="1">
            <a:spLocks noGrp="1"/>
          </p:cNvSpPr>
          <p:nvPr>
            <p:ph type="body" idx="5"/>
          </p:nvPr>
        </p:nvSpPr>
        <p:spPr>
          <a:xfrm>
            <a:off x="10458450" y="6667500"/>
            <a:ext cx="6381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ما يهم المستخدم</a:t>
            </a:r>
            <a:endParaRPr/>
          </a:p>
        </p:txBody>
      </p:sp>
      <p:sp>
        <p:nvSpPr>
          <p:cNvPr id="580" name="Google Shape;580;p13"/>
          <p:cNvSpPr txBox="1">
            <a:spLocks noGrp="1"/>
          </p:cNvSpPr>
          <p:nvPr>
            <p:ph type="body" idx="6"/>
          </p:nvPr>
        </p:nvSpPr>
        <p:spPr>
          <a:xfrm>
            <a:off x="10458450" y="7372350"/>
            <a:ext cx="6381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عربية أولًا مع الإنجليزية، تعمل على الجوال وتحترم تقليل الحركة، بلا حساب ولا تسجيل</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589" name="Google Shape;589;p14"/>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الابتكار والقيمة المضافة · 15%</a:t>
            </a:r>
            <a:endParaRPr/>
          </a:p>
        </p:txBody>
      </p:sp>
      <p:sp>
        <p:nvSpPr>
          <p:cNvPr id="590" name="Google Shape;590;p14"/>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طمأنينة: ابدأ من حيث أنت</a:t>
            </a:r>
            <a:endParaRPr/>
          </a:p>
        </p:txBody>
      </p:sp>
      <p:sp>
        <p:nvSpPr>
          <p:cNvPr id="591" name="Google Shape;591;p1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14</a:t>
            </a:fld>
            <a:endParaRPr/>
          </a:p>
        </p:txBody>
      </p:sp>
      <p:pic>
        <p:nvPicPr>
          <p:cNvPr id="592" name="Screenshot tmn-composer" descr="لقطة من واجهة طمأنينة: مربع الكتابة «وش يشغلك اليوم؟» مع أمثلة"/>
          <p:cNvPicPr>
            <a:picLocks noGrp="1" noChangeAspect="1"/>
          </p:cNvPicPr>
          <p:nvPr>
            <p:ph type="pic" idx="2"/>
          </p:nvPr>
        </p:nvPicPr>
        <p:blipFill>
          <a:blip r:embed="rId5"/>
          <a:srcRect/>
          <a:stretch>
            <a:fillRect/>
          </a:stretch>
        </p:blipFill>
        <p:spPr>
          <a:xfrm>
            <a:off x="2190750" y="2999025"/>
            <a:ext cx="5715000" cy="5715000"/>
          </a:xfrm>
          <a:prstGeom prst="roundRect">
            <a:avLst>
              <a:gd name="adj" fmla="val 4285"/>
            </a:avLst>
          </a:prstGeom>
          <a:ln w="11425" cap="flat" cmpd="sng">
            <a:solidFill>
              <a:srgbClr val="4A5590"/>
            </a:solidFill>
            <a:prstDash val="solid"/>
            <a:round/>
            <a:headEnd type="none" w="sm" len="sm"/>
            <a:tailEnd type="none" w="sm" len="sm"/>
          </a:ln>
        </p:spPr>
      </p:pic>
      <p:sp>
        <p:nvSpPr>
          <p:cNvPr id="593" name="Google Shape;593;p14"/>
          <p:cNvSpPr txBox="1">
            <a:spLocks noGrp="1"/>
          </p:cNvSpPr>
          <p:nvPr>
            <p:ph type="body" idx="3"/>
          </p:nvPr>
        </p:nvSpPr>
        <p:spPr>
          <a:xfrm>
            <a:off x="9696450" y="3905250"/>
            <a:ext cx="7143900" cy="800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3450"/>
              <a:buNone/>
            </a:pPr>
            <a:r>
              <a:rPr lang="ar-SA" sz="3450" b="1">
                <a:solidFill>
                  <a:srgbClr val="2EF2C2"/>
                </a:solidFill>
                <a:latin typeface="Readex Pro"/>
                <a:ea typeface="Readex Pro"/>
                <a:cs typeface="Readex Pro"/>
                <a:sym typeface="Readex Pro"/>
              </a:rPr>
              <a:t>منصة تفاعلية للاكتشاف والتعلّم</a:t>
            </a:r>
            <a:endParaRPr/>
          </a:p>
        </p:txBody>
      </p:sp>
      <p:sp>
        <p:nvSpPr>
          <p:cNvPr id="594" name="Google Shape;594;p14"/>
          <p:cNvSpPr txBox="1">
            <a:spLocks noGrp="1"/>
          </p:cNvSpPr>
          <p:nvPr>
            <p:ph type="body" idx="4"/>
          </p:nvPr>
        </p:nvSpPr>
        <p:spPr>
          <a:xfrm>
            <a:off x="9696450" y="5191125"/>
            <a:ext cx="7143900" cy="2032500"/>
          </a:xfrm>
          <a:prstGeom prst="rect">
            <a:avLst/>
          </a:prstGeom>
          <a:noFill/>
          <a:ln>
            <a:noFill/>
          </a:ln>
        </p:spPr>
        <p:txBody>
          <a:bodyPr spcFirstLastPara="1" wrap="square" lIns="0" tIns="0" rIns="0" bIns="0" anchor="t" anchorCtr="0">
            <a:noAutofit/>
          </a:bodyPr>
          <a:lstStyle/>
          <a:p>
            <a:pPr marL="0" lvl="0" indent="0" algn="r" rtl="1">
              <a:lnSpc>
                <a:spcPct val="115000"/>
              </a:lnSpc>
              <a:spcBef>
                <a:spcPts val="0"/>
              </a:spcBef>
              <a:spcAft>
                <a:spcPts val="0"/>
              </a:spcAft>
              <a:buSzPts val="2850"/>
              <a:buNone/>
            </a:pPr>
            <a:r>
              <a:rPr lang="ar-SA" sz="2850">
                <a:solidFill>
                  <a:srgbClr val="F2F4FF"/>
                </a:solidFill>
                <a:latin typeface="Readex Pro Light"/>
                <a:ea typeface="Readex Pro Light"/>
                <a:cs typeface="Readex Pro Light"/>
                <a:sym typeface="Readex Pro Light"/>
              </a:rPr>
              <a:t>تكتب تجربتك أو سؤالك بكلامك، فتكتشف موضوعات إسلامية مرتبطة به، تختار منها، وتبدأ رحلة: آية وتفسيرها، وحديث صحيح، وموقف من السيرة.</a:t>
            </a:r>
            <a:endParaRPr>
              <a:latin typeface="Readex Pro Light"/>
              <a:ea typeface="Readex Pro Light"/>
              <a:cs typeface="Readex Pro Light"/>
              <a:sym typeface="Readex Pro Light"/>
            </a:endParaRPr>
          </a:p>
        </p:txBody>
      </p:sp>
      <p:sp>
        <p:nvSpPr>
          <p:cNvPr id="595" name="Google Shape;595;p14"/>
          <p:cNvSpPr txBox="1">
            <a:spLocks noGrp="1"/>
          </p:cNvSpPr>
          <p:nvPr>
            <p:ph type="body" idx="5"/>
          </p:nvPr>
        </p:nvSpPr>
        <p:spPr>
          <a:xfrm>
            <a:off x="9696450" y="8048625"/>
            <a:ext cx="7143900" cy="743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950"/>
              <a:buNone/>
            </a:pPr>
            <a:r>
              <a:rPr lang="ar-SA" sz="1950" b="0">
                <a:solidFill>
                  <a:srgbClr val="CBCFE6"/>
                </a:solidFill>
                <a:latin typeface="Readex Pro"/>
                <a:ea typeface="Readex Pro"/>
                <a:cs typeface="Readex Pro"/>
                <a:sym typeface="Readex Pro"/>
              </a:rPr>
              <a:t>من الواجهة الحالية: نقطة البداية «وش يشغلك اليوم؟»</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604" name="Google Shape;604;p15"/>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الموثوقية والسلامة العلمية · 15%</a:t>
            </a:r>
            <a:endParaRPr/>
          </a:p>
        </p:txBody>
      </p:sp>
      <p:sp>
        <p:nvSpPr>
          <p:cNvPr id="605" name="Google Shape;605;p15"/>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نتائج التقييم الحي للذكاء الاصطناعي</a:t>
            </a:r>
            <a:endParaRPr/>
          </a:p>
        </p:txBody>
      </p:sp>
      <p:sp>
        <p:nvSpPr>
          <p:cNvPr id="606" name="Google Shape;606;p15"/>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تقييم حي بنموذج «جيميناي»: 34 حالة (12 من الحزمة العلمية + 22 إضافية) × 3 محاولات = 102 تشغيل</a:t>
            </a:r>
            <a:endParaRPr/>
          </a:p>
        </p:txBody>
      </p:sp>
      <p:sp>
        <p:nvSpPr>
          <p:cNvPr id="607" name="Google Shape;607;p1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15</a:t>
            </a:fld>
            <a:endParaRPr/>
          </a:p>
        </p:txBody>
      </p:sp>
      <p:sp>
        <p:nvSpPr>
          <p:cNvPr id="608" name="Google Shape;608;p15"/>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99/99</a:t>
            </a:r>
            <a:endParaRPr/>
          </a:p>
        </p:txBody>
      </p:sp>
      <p:sp>
        <p:nvSpPr>
          <p:cNvPr id="609" name="Google Shape;609;p15"/>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تشغيل ناجح</a:t>
            </a:r>
            <a:endParaRPr/>
          </a:p>
        </p:txBody>
      </p:sp>
      <p:sp>
        <p:nvSpPr>
          <p:cNvPr id="610" name="Google Shape;610;p15"/>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نسبة النجاح 100%</a:t>
            </a:r>
            <a:endParaRPr/>
          </a:p>
        </p:txBody>
      </p:sp>
      <p:sp>
        <p:nvSpPr>
          <p:cNvPr id="611" name="Google Shape;611;p15"/>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12/12</a:t>
            </a:r>
            <a:endParaRPr/>
          </a:p>
        </p:txBody>
      </p:sp>
      <p:sp>
        <p:nvSpPr>
          <p:cNvPr id="612" name="Google Shape;612;p15"/>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حالات الحزمة العلمية</a:t>
            </a:r>
            <a:endParaRPr/>
          </a:p>
        </p:txBody>
      </p:sp>
      <p:sp>
        <p:nvSpPr>
          <p:cNvPr id="613" name="Google Shape;613;p15"/>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36 من 36 محاولة ناجحة</a:t>
            </a:r>
            <a:endParaRPr/>
          </a:p>
        </p:txBody>
      </p:sp>
      <p:sp>
        <p:nvSpPr>
          <p:cNvPr id="614" name="Google Shape;614;p15"/>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0</a:t>
            </a:r>
            <a:endParaRPr/>
          </a:p>
        </p:txBody>
      </p:sp>
      <p:sp>
        <p:nvSpPr>
          <p:cNvPr id="615" name="Google Shape;615;p15"/>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نص شرعي مولَّد</a:t>
            </a:r>
            <a:endParaRPr/>
          </a:p>
        </p:txBody>
      </p:sp>
      <p:sp>
        <p:nvSpPr>
          <p:cNvPr id="616" name="Google Shape;616;p15"/>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من 380 حقلًا فُحصت حرفيًا</a:t>
            </a:r>
            <a:endParaRPr/>
          </a:p>
        </p:txBody>
      </p:sp>
      <p:sp>
        <p:nvSpPr>
          <p:cNvPr id="617" name="Google Shape;617;p15"/>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pPr>
            <a:r>
              <a:rPr lang="ar-SA" sz="7050" b="1">
                <a:solidFill>
                  <a:srgbClr val="2EF2C2"/>
                </a:solidFill>
                <a:latin typeface="Readex Pro"/>
                <a:ea typeface="Readex Pro"/>
                <a:cs typeface="Readex Pro"/>
                <a:sym typeface="Readex Pro"/>
              </a:rPr>
              <a:t>1.99 ث</a:t>
            </a:r>
            <a:endParaRPr/>
          </a:p>
        </p:txBody>
      </p:sp>
      <p:sp>
        <p:nvSpPr>
          <p:cNvPr id="618" name="Google Shape;618;p15"/>
          <p:cNvSpPr txBox="1">
            <a:spLocks noGrp="1"/>
          </p:cNvSpPr>
          <p:nvPr>
            <p:ph type="body" idx="16"/>
          </p:nvPr>
        </p:nvSpPr>
        <p:spPr>
          <a:xfrm>
            <a:off x="1714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pPr>
            <a:r>
              <a:rPr lang="ar-SA" sz="2550" b="1">
                <a:solidFill>
                  <a:srgbClr val="F2F4FF"/>
                </a:solidFill>
                <a:latin typeface="Readex Pro"/>
                <a:ea typeface="Readex Pro"/>
                <a:cs typeface="Readex Pro"/>
                <a:sym typeface="Readex Pro"/>
              </a:rPr>
              <a:t>زمن الاستجابة الوسيط</a:t>
            </a:r>
            <a:endParaRPr/>
          </a:p>
        </p:txBody>
      </p:sp>
      <p:sp>
        <p:nvSpPr>
          <p:cNvPr id="619" name="Google Shape;619;p15"/>
          <p:cNvSpPr txBox="1">
            <a:spLocks noGrp="1"/>
          </p:cNvSpPr>
          <p:nvPr>
            <p:ph type="body" idx="17"/>
          </p:nvPr>
        </p:nvSpPr>
        <p:spPr>
          <a:xfrm>
            <a:off x="17145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pPr>
            <a:r>
              <a:rPr lang="ar-SA" sz="2025" b="0">
                <a:solidFill>
                  <a:srgbClr val="CBCFE6"/>
                </a:solidFill>
                <a:latin typeface="Readex Pro"/>
                <a:ea typeface="Readex Pro"/>
                <a:cs typeface="Readex Pro"/>
                <a:sym typeface="Readex Pro"/>
              </a:rPr>
              <a:t>والمئين 90: 3.96 ث</a:t>
            </a:r>
            <a:endParaRPr/>
          </a:p>
        </p:txBody>
      </p:sp>
      <p:sp>
        <p:nvSpPr>
          <p:cNvPr id="620" name="Google Shape;620;p15"/>
          <p:cNvSpPr txBox="1">
            <a:spLocks noGrp="1"/>
          </p:cNvSpPr>
          <p:nvPr>
            <p:ph type="body" idx="18"/>
          </p:nvPr>
        </p:nvSpPr>
        <p:spPr>
          <a:xfrm>
            <a:off x="8381075" y="8763000"/>
            <a:ext cx="8459100" cy="476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المصدر: تقرير التقييم في مستودع المشروع — تشغيل 6 أكتوبر 2026 على آخر إصدار</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639" name="Google Shape;639;p1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الموثوقية والسلامة العلمية · 15%</a:t>
            </a:r>
            <a:endParaRPr/>
          </a:p>
        </p:txBody>
      </p:sp>
      <p:sp>
        <p:nvSpPr>
          <p:cNvPr id="640" name="Google Shape;640;p1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كل نص شرعي له مصدر</a:t>
            </a:r>
            <a:endParaRPr/>
          </a:p>
        </p:txBody>
      </p:sp>
      <p:sp>
        <p:nvSpPr>
          <p:cNvPr id="641" name="Google Shape;641;p1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لا يظهر نص شرعي إلا منقولًا حرفيًا من مصدر معتمد، بعد مراجعة بشرية، ومع مرجعه</a:t>
            </a:r>
            <a:endParaRPr/>
          </a:p>
        </p:txBody>
      </p:sp>
      <p:sp>
        <p:nvSpPr>
          <p:cNvPr id="642" name="Google Shape;642;p1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17</a:t>
            </a:fld>
            <a:endParaRPr/>
          </a:p>
        </p:txBody>
      </p:sp>
      <p:graphicFrame>
        <p:nvGraphicFramePr>
          <p:cNvPr id="643" name="Google Shape;643;p17"/>
          <p:cNvGraphicFramePr/>
          <p:nvPr/>
        </p:nvGraphicFramePr>
        <p:xfrm>
          <a:off x="1314450" y="3905250"/>
          <a:ext cx="15430500" cy="4279900"/>
        </p:xfrm>
        <a:graphic>
          <a:graphicData uri="http://schemas.openxmlformats.org/drawingml/2006/table">
            <a:tbl>
              <a:tblPr>
                <a:noFill/>
                <a:tableStyleId>{B8ED9858-D163-4338-9E88-1F424354888F}</a:tableStyleId>
              </a:tblPr>
              <a:tblGrid>
                <a:gridCol w="4800000">
                  <a:extLst>
                    <a:ext uri="{9D8B030D-6E8A-4147-A177-3AD203B41FA5}">
                      <a16:colId xmlns:a16="http://schemas.microsoft.com/office/drawing/2014/main" val="20001"/>
                    </a:ext>
                  </a:extLst>
                </a:gridCol>
                <a:gridCol w="5530500">
                  <a:extLst>
                    <a:ext uri="{9D8B030D-6E8A-4147-A177-3AD203B41FA5}">
                      <a16:colId xmlns:a16="http://schemas.microsoft.com/office/drawing/2014/main" val="20002"/>
                    </a:ext>
                  </a:extLst>
                </a:gridCol>
                <a:gridCol w="5100000">
                  <a:extLst>
                    <a:ext uri="{9D8B030D-6E8A-4147-A177-3AD203B41FA5}">
                      <a16:colId xmlns:a16="http://schemas.microsoft.com/office/drawing/2014/main" val="20003"/>
                    </a:ext>
                  </a:extLst>
                </a:gridCol>
              </a:tblGrid>
              <a:tr h="635000">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كيف نتحقق</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ما نعرضه منه</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المصدر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extLst>
                  <a:ext uri="{0D108BD9-81ED-4DB2-BD59-A6C34878D82A}">
                    <a16:rowId xmlns:a16="http://schemas.microsoft.com/office/drawing/2014/main" val="10000"/>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لقطة حرفية مع بصمة نصية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نص الآية وترجمتها الإنجليزية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القرآن الكريم — قرآنبيديا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1"/>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جلبان مستقلان يجب أن يتطابقا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مقتطف يشرح الآية بالجزء والصفحة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تفسير الطبري «جامع البيان»</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2"/>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جلبان مستقلان يجب أن يتطابقا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حديث بكتابه ورقمه ودرجته</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الصحيحان — المكتبة الشاملة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3"/>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نص حرفي بلا حكم حديثي مُدّعى</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15 موقفًا من السيرة بمرجعها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سيرة ابن هشام والصحيحان</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لا يُعرض حديث إلا من الصحيحين</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53 مقطعًا عند طلب «لتتعلّم أكثر»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موسوعة الجمهرة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حرفيًا مع رقم المسألة والصفحة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69 جوابًا مراجعًا من 263 مسألة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«بينات» — مركز أصول</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5207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المرجعية الحاكمة للسلوك</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قاموس المصطلحات ومستويات أ–د</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الحزمة العلمية للتحدي</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bl>
          </a:graphicData>
        </a:graphic>
      </p:graphicFrame>
      <p:sp>
        <p:nvSpPr>
          <p:cNvPr id="644" name="Google Shape;644;p17"/>
          <p:cNvSpPr txBox="1">
            <a:spLocks noGrp="1"/>
          </p:cNvSpPr>
          <p:nvPr>
            <p:ph type="body" idx="3"/>
          </p:nvPr>
        </p:nvSpPr>
        <p:spPr>
          <a:xfrm>
            <a:off x="1409700" y="8810625"/>
            <a:ext cx="15430500" cy="457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للإحالة فقط دون نقل نص: الدرر السنية · المستودع الدعوي الرقمي — وعند غياب المرجع تمتنع المنصة بصدق</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a:stretch/>
        </p:blipFill>
        <p:spPr>
          <a:xfrm>
            <a:off x="-19050" y="0"/>
            <a:ext cx="18288000" cy="10287000"/>
          </a:xfrm>
          <a:prstGeom prst="rect">
            <a:avLst/>
          </a:prstGeom>
          <a:noFill/>
          <a:ln>
            <a:noFill/>
          </a:ln>
        </p:spPr>
      </p:pic>
      <p:sp>
        <p:nvSpPr>
          <p:cNvPr id="651" name="Google Shape;651;p1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18</a:t>
            </a:fld>
            <a:endParaRPr/>
          </a:p>
        </p:txBody>
      </p:sp>
      <p:sp>
        <p:nvSpPr>
          <p:cNvPr id="652" name="Google Shape;652;p18"/>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واقعية التشغيل والاستكمال · 10%</a:t>
            </a:r>
            <a:endParaRPr/>
          </a:p>
        </p:txBody>
      </p:sp>
      <p:sp>
        <p:nvSpPr>
          <p:cNvPr id="653" name="Google Shape;653;p18"/>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خطة الاستمرار</a:t>
            </a:r>
            <a:endParaRPr/>
          </a:p>
        </p:txBody>
      </p:sp>
      <p:sp>
        <p:nvSpPr>
          <p:cNvPr id="654" name="Google Shape;654;p18"/>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مراحل متتابعة، مع صيانة دورية: مراجعة المحتوى شهريًا وتحديث لقطات المصادر كل ربع سنة</a:t>
            </a:r>
            <a:endParaRPr/>
          </a:p>
        </p:txBody>
      </p:sp>
      <p:sp>
        <p:nvSpPr>
          <p:cNvPr id="655" name="Google Shape;655;p18"/>
          <p:cNvSpPr txBox="1">
            <a:spLocks noGrp="1"/>
          </p:cNvSpPr>
          <p:nvPr>
            <p:ph type="body" idx="3"/>
          </p:nvPr>
        </p:nvSpPr>
        <p:spPr>
          <a:xfrm>
            <a:off x="139827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01</a:t>
            </a:r>
            <a:endParaRPr/>
          </a:p>
        </p:txBody>
      </p:sp>
      <p:sp>
        <p:nvSpPr>
          <p:cNvPr id="656" name="Google Shape;656;p18"/>
          <p:cNvSpPr txBox="1">
            <a:spLocks noGrp="1"/>
          </p:cNvSpPr>
          <p:nvPr>
            <p:ph type="body" idx="4"/>
          </p:nvPr>
        </p:nvSpPr>
        <p:spPr>
          <a:xfrm>
            <a:off x="139827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التجربة الأولية</a:t>
            </a:r>
            <a:endParaRPr/>
          </a:p>
        </p:txBody>
      </p:sp>
      <p:sp>
        <p:nvSpPr>
          <p:cNvPr id="657" name="Google Shape;657;p18"/>
          <p:cNvSpPr txBox="1">
            <a:spLocks noGrp="1"/>
          </p:cNvSpPr>
          <p:nvPr>
            <p:ph type="body" idx="5"/>
          </p:nvPr>
        </p:nvSpPr>
        <p:spPr>
          <a:xfrm>
            <a:off x="139827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على الخطط المجانية</a:t>
            </a:r>
            <a:endParaRPr/>
          </a:p>
        </p:txBody>
      </p:sp>
      <p:sp>
        <p:nvSpPr>
          <p:cNvPr id="658" name="Google Shape;658;p18"/>
          <p:cNvSpPr txBox="1">
            <a:spLocks noGrp="1"/>
          </p:cNvSpPr>
          <p:nvPr>
            <p:ph type="body" idx="6"/>
          </p:nvPr>
        </p:nvSpPr>
        <p:spPr>
          <a:xfrm>
            <a:off x="139827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جمع الملاحظات عبر قناة بسيطة دون حفظ المحادثات</a:t>
            </a:r>
            <a:endParaRPr/>
          </a:p>
        </p:txBody>
      </p:sp>
      <p:sp>
        <p:nvSpPr>
          <p:cNvPr id="659" name="Google Shape;659;p18"/>
          <p:cNvSpPr txBox="1">
            <a:spLocks noGrp="1"/>
          </p:cNvSpPr>
          <p:nvPr>
            <p:ph type="body" idx="7"/>
          </p:nvPr>
        </p:nvSpPr>
        <p:spPr>
          <a:xfrm>
            <a:off x="1083945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02</a:t>
            </a:r>
            <a:endParaRPr/>
          </a:p>
        </p:txBody>
      </p:sp>
      <p:sp>
        <p:nvSpPr>
          <p:cNvPr id="660" name="Google Shape;660;p18"/>
          <p:cNvSpPr txBox="1">
            <a:spLocks noGrp="1"/>
          </p:cNvSpPr>
          <p:nvPr>
            <p:ph type="body" idx="8"/>
          </p:nvPr>
        </p:nvSpPr>
        <p:spPr>
          <a:xfrm>
            <a:off x="1083945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توسيع المحتوى</a:t>
            </a:r>
            <a:endParaRPr/>
          </a:p>
        </p:txBody>
      </p:sp>
      <p:sp>
        <p:nvSpPr>
          <p:cNvPr id="661" name="Google Shape;661;p18"/>
          <p:cNvSpPr txBox="1">
            <a:spLocks noGrp="1"/>
          </p:cNvSpPr>
          <p:nvPr>
            <p:ph type="body" idx="9"/>
          </p:nvPr>
        </p:nvSpPr>
        <p:spPr>
          <a:xfrm>
            <a:off x="1083945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موضوعًا بعد موضوع</a:t>
            </a:r>
            <a:endParaRPr/>
          </a:p>
        </p:txBody>
      </p:sp>
      <p:sp>
        <p:nvSpPr>
          <p:cNvPr id="662" name="Google Shape;662;p18"/>
          <p:cNvSpPr txBox="1">
            <a:spLocks noGrp="1"/>
          </p:cNvSpPr>
          <p:nvPr>
            <p:ph type="body" idx="13"/>
          </p:nvPr>
        </p:nvSpPr>
        <p:spPr>
          <a:xfrm>
            <a:off x="1083945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كل موضوع جديد يُعلن بعد نجاح التقييم الحي</a:t>
            </a:r>
            <a:endParaRPr/>
          </a:p>
        </p:txBody>
      </p:sp>
      <p:sp>
        <p:nvSpPr>
          <p:cNvPr id="663" name="Google Shape;663;p18"/>
          <p:cNvSpPr txBox="1">
            <a:spLocks noGrp="1"/>
          </p:cNvSpPr>
          <p:nvPr>
            <p:ph type="body" idx="14"/>
          </p:nvPr>
        </p:nvSpPr>
        <p:spPr>
          <a:xfrm>
            <a:off x="76962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03</a:t>
            </a:r>
            <a:endParaRPr/>
          </a:p>
        </p:txBody>
      </p:sp>
      <p:sp>
        <p:nvSpPr>
          <p:cNvPr id="664" name="Google Shape;664;p18"/>
          <p:cNvSpPr txBox="1">
            <a:spLocks noGrp="1"/>
          </p:cNvSpPr>
          <p:nvPr>
            <p:ph type="body" idx="15"/>
          </p:nvPr>
        </p:nvSpPr>
        <p:spPr>
          <a:xfrm>
            <a:off x="76962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تصحيح الآيات</a:t>
            </a:r>
            <a:endParaRPr/>
          </a:p>
        </p:txBody>
      </p:sp>
      <p:sp>
        <p:nvSpPr>
          <p:cNvPr id="665" name="Google Shape;665;p18"/>
          <p:cNvSpPr txBox="1">
            <a:spLocks noGrp="1"/>
          </p:cNvSpPr>
          <p:nvPr>
            <p:ph type="body" idx="16"/>
          </p:nvPr>
        </p:nvSpPr>
        <p:spPr>
          <a:xfrm>
            <a:off x="76962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تحسين مخطط له</a:t>
            </a:r>
            <a:endParaRPr/>
          </a:p>
        </p:txBody>
      </p:sp>
      <p:sp>
        <p:nvSpPr>
          <p:cNvPr id="666" name="Google Shape;666;p18"/>
          <p:cNvSpPr txBox="1">
            <a:spLocks noGrp="1"/>
          </p:cNvSpPr>
          <p:nvPr>
            <p:ph type="body" idx="17"/>
          </p:nvPr>
        </p:nvSpPr>
        <p:spPr>
          <a:xfrm>
            <a:off x="76962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عرض الآية الصحيحة بسورتها ورقمها عند نقلها خطأً</a:t>
            </a:r>
            <a:endParaRPr/>
          </a:p>
        </p:txBody>
      </p:sp>
      <p:sp>
        <p:nvSpPr>
          <p:cNvPr id="667" name="Google Shape;667;p18"/>
          <p:cNvSpPr txBox="1">
            <a:spLocks noGrp="1"/>
          </p:cNvSpPr>
          <p:nvPr>
            <p:ph type="body" idx="18"/>
          </p:nvPr>
        </p:nvSpPr>
        <p:spPr>
          <a:xfrm>
            <a:off x="455295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04</a:t>
            </a:r>
            <a:endParaRPr/>
          </a:p>
        </p:txBody>
      </p:sp>
      <p:sp>
        <p:nvSpPr>
          <p:cNvPr id="668" name="Google Shape;668;p18"/>
          <p:cNvSpPr txBox="1">
            <a:spLocks noGrp="1"/>
          </p:cNvSpPr>
          <p:nvPr>
            <p:ph type="body" idx="19"/>
          </p:nvPr>
        </p:nvSpPr>
        <p:spPr>
          <a:xfrm>
            <a:off x="455295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مراجعة مؤسسية</a:t>
            </a:r>
            <a:endParaRPr/>
          </a:p>
        </p:txBody>
      </p:sp>
      <p:sp>
        <p:nvSpPr>
          <p:cNvPr id="669" name="Google Shape;669;p18"/>
          <p:cNvSpPr txBox="1">
            <a:spLocks noGrp="1"/>
          </p:cNvSpPr>
          <p:nvPr>
            <p:ph type="body" idx="20"/>
          </p:nvPr>
        </p:nvSpPr>
        <p:spPr>
          <a:xfrm>
            <a:off x="455295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شراكة علمية</a:t>
            </a:r>
            <a:endParaRPr/>
          </a:p>
        </p:txBody>
      </p:sp>
      <p:sp>
        <p:nvSpPr>
          <p:cNvPr id="670" name="Google Shape;670;p18"/>
          <p:cNvSpPr txBox="1">
            <a:spLocks noGrp="1"/>
          </p:cNvSpPr>
          <p:nvPr>
            <p:ph type="body" idx="21"/>
          </p:nvPr>
        </p:nvSpPr>
        <p:spPr>
          <a:xfrm>
            <a:off x="455295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جهة إسلامية معتمدة تراجع المحتوى وسياسة المستويات</a:t>
            </a:r>
            <a:endParaRPr/>
          </a:p>
        </p:txBody>
      </p:sp>
      <p:sp>
        <p:nvSpPr>
          <p:cNvPr id="671" name="Google Shape;671;p18"/>
          <p:cNvSpPr txBox="1">
            <a:spLocks noGrp="1"/>
          </p:cNvSpPr>
          <p:nvPr>
            <p:ph type="body" idx="22"/>
          </p:nvPr>
        </p:nvSpPr>
        <p:spPr>
          <a:xfrm>
            <a:off x="14097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pPr>
            <a:r>
              <a:rPr lang="ar-SA" sz="3900" b="1">
                <a:solidFill>
                  <a:srgbClr val="2EF2C2"/>
                </a:solidFill>
                <a:latin typeface="Readex Pro"/>
                <a:ea typeface="Readex Pro"/>
                <a:cs typeface="Readex Pro"/>
                <a:sym typeface="Readex Pro"/>
              </a:rPr>
              <a:t>05</a:t>
            </a:r>
            <a:endParaRPr/>
          </a:p>
        </p:txBody>
      </p:sp>
      <p:sp>
        <p:nvSpPr>
          <p:cNvPr id="672" name="Google Shape;672;p18"/>
          <p:cNvSpPr txBox="1">
            <a:spLocks noGrp="1"/>
          </p:cNvSpPr>
          <p:nvPr>
            <p:ph type="body" idx="23"/>
          </p:nvPr>
        </p:nvSpPr>
        <p:spPr>
          <a:xfrm>
            <a:off x="14097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الإطلاق العام</a:t>
            </a:r>
            <a:endParaRPr/>
          </a:p>
        </p:txBody>
      </p:sp>
      <p:sp>
        <p:nvSpPr>
          <p:cNvPr id="673" name="Google Shape;673;p18"/>
          <p:cNvSpPr txBox="1">
            <a:spLocks noGrp="1"/>
          </p:cNvSpPr>
          <p:nvPr>
            <p:ph type="body" idx="24"/>
          </p:nvPr>
        </p:nvSpPr>
        <p:spPr>
          <a:xfrm>
            <a:off x="14097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2EF2C2"/>
                </a:solidFill>
                <a:latin typeface="Readex Pro"/>
                <a:ea typeface="Readex Pro"/>
                <a:cs typeface="Readex Pro"/>
                <a:sym typeface="Readex Pro"/>
              </a:rPr>
              <a:t>بمفتاح ذكاء مدفوع</a:t>
            </a:r>
            <a:endParaRPr/>
          </a:p>
        </p:txBody>
      </p:sp>
      <p:sp>
        <p:nvSpPr>
          <p:cNvPr id="674" name="Google Shape;674;p18"/>
          <p:cNvSpPr txBox="1">
            <a:spLocks noGrp="1"/>
          </p:cNvSpPr>
          <p:nvPr>
            <p:ph type="body" idx="25"/>
          </p:nvPr>
        </p:nvSpPr>
        <p:spPr>
          <a:xfrm>
            <a:off x="14097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حماية خصوصية المدخلات مع تنبيه شهري للميزانية</a:t>
            </a:r>
            <a:endParaRPr/>
          </a:p>
        </p:txBody>
      </p:sp>
      <p:cxnSp>
        <p:nvCxnSpPr>
          <p:cNvPr id="675" name="Google Shape;675;p18"/>
          <p:cNvCxnSpPr/>
          <p:nvPr/>
        </p:nvCxnSpPr>
        <p:spPr>
          <a:xfrm rot="10800000">
            <a:off x="13992300" y="4708975"/>
            <a:ext cx="2838300" cy="0"/>
          </a:xfrm>
          <a:prstGeom prst="straightConnector1">
            <a:avLst/>
          </a:prstGeom>
          <a:noFill/>
          <a:ln w="76200" cap="flat" cmpd="sng">
            <a:solidFill>
              <a:srgbClr val="6150EA"/>
            </a:solidFill>
            <a:prstDash val="solid"/>
            <a:round/>
            <a:headEnd type="none" w="med" len="med"/>
            <a:tailEnd type="none" w="med" len="med"/>
          </a:ln>
        </p:spPr>
      </p:cxnSp>
      <p:pic>
        <p:nvPicPr>
          <p:cNvPr id="676" name="Google Shape;676;p18"/>
          <p:cNvPicPr preferRelativeResize="0"/>
          <p:nvPr/>
        </p:nvPicPr>
        <p:blipFill rotWithShape="1">
          <a:blip r:embed="rId4">
            <a:alphaModFix/>
          </a:blip>
          <a:srcRect/>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78" name="Google Shape;678;p18"/>
          <p:cNvCxnSpPr/>
          <p:nvPr/>
        </p:nvCxnSpPr>
        <p:spPr>
          <a:xfrm rot="10800000">
            <a:off x="76677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79" name="Google Shape;679;p18"/>
          <p:cNvCxnSpPr/>
          <p:nvPr/>
        </p:nvCxnSpPr>
        <p:spPr>
          <a:xfrm rot="10800000">
            <a:off x="45054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80" name="Google Shape;680;p18"/>
          <p:cNvCxnSpPr/>
          <p:nvPr/>
        </p:nvCxnSpPr>
        <p:spPr>
          <a:xfrm rot="10800000">
            <a:off x="1343100" y="4708975"/>
            <a:ext cx="2838300" cy="0"/>
          </a:xfrm>
          <a:prstGeom prst="straightConnector1">
            <a:avLst/>
          </a:prstGeom>
          <a:noFill/>
          <a:ln w="76200" cap="flat" cmpd="sng">
            <a:solidFill>
              <a:srgbClr val="6150EA"/>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6150EA"/>
                </a:solidFill>
                <a:latin typeface="Readex Pro"/>
                <a:ea typeface="Readex Pro"/>
                <a:cs typeface="Readex Pro"/>
                <a:sym typeface="Readex Pro"/>
              </a:rPr>
              <a:t>تحقيق النفع وفق معيار نجاح المسار · 20%</a:t>
            </a:r>
            <a:endParaRPr/>
          </a:p>
        </p:txBody>
      </p:sp>
      <p:sp>
        <p:nvSpPr>
          <p:cNvPr id="711" name="Google Shape;711;p20"/>
          <p:cNvSpPr txBox="1">
            <a:spLocks noGrp="1"/>
          </p:cNvSpPr>
          <p:nvPr>
            <p:ph type="title"/>
          </p:nvPr>
        </p:nvSpPr>
        <p:spPr>
          <a:xfrm>
            <a:off x="6637950" y="1809750"/>
            <a:ext cx="102024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12183F"/>
                </a:solidFill>
                <a:latin typeface="Readex Pro"/>
                <a:ea typeface="Readex Pro"/>
                <a:cs typeface="Readex Pro"/>
                <a:sym typeface="Readex Pro"/>
              </a:rPr>
              <a:t>الأثر والقيمة</a:t>
            </a:r>
            <a:endParaRPr/>
          </a:p>
        </p:txBody>
      </p:sp>
      <p:sp>
        <p:nvSpPr>
          <p:cNvPr id="712" name="Google Shape;712;p20"/>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4A5590"/>
                </a:solidFill>
                <a:latin typeface="Readex Pro"/>
                <a:ea typeface="Readex Pro"/>
                <a:cs typeface="Readex Pro"/>
                <a:sym typeface="Readex Pro"/>
              </a:rPr>
              <a:t>المعرفة الإسلامية الموثوقة تصبح أقرب: البداية من تجربة الإنسان، لا من مصطلح يجب أن يعرفه</a:t>
            </a:r>
            <a:endParaRPr/>
          </a:p>
        </p:txBody>
      </p:sp>
      <p:sp>
        <p:nvSpPr>
          <p:cNvPr id="713" name="Google Shape;713;p2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20</a:t>
            </a:fld>
            <a:endParaRPr/>
          </a:p>
        </p:txBody>
      </p:sp>
      <p:sp>
        <p:nvSpPr>
          <p:cNvPr id="714" name="Google Shape;714;p20"/>
          <p:cNvSpPr txBox="1">
            <a:spLocks noGrp="1"/>
          </p:cNvSpPr>
          <p:nvPr>
            <p:ph type="body" idx="3"/>
          </p:nvPr>
        </p:nvSpPr>
        <p:spPr>
          <a:xfrm>
            <a:off x="9505950" y="3952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تبدأ من حيث أنت</a:t>
            </a:r>
            <a:endParaRPr/>
          </a:p>
        </p:txBody>
      </p:sp>
      <p:sp>
        <p:nvSpPr>
          <p:cNvPr id="715" name="Google Shape;715;p20"/>
          <p:cNvSpPr txBox="1">
            <a:spLocks noGrp="1"/>
          </p:cNvSpPr>
          <p:nvPr>
            <p:ph type="body" idx="4"/>
          </p:nvPr>
        </p:nvSpPr>
        <p:spPr>
          <a:xfrm>
            <a:off x="9505950" y="4657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لا يلزمه معرفة اسم الموضوع أو المصطلح</a:t>
            </a:r>
            <a:endParaRPr/>
          </a:p>
        </p:txBody>
      </p:sp>
      <p:sp>
        <p:nvSpPr>
          <p:cNvPr id="716" name="Google Shape;716;p20"/>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بلغتك أنت</a:t>
            </a:r>
            <a:endParaRPr/>
          </a:p>
        </p:txBody>
      </p:sp>
      <p:sp>
        <p:nvSpPr>
          <p:cNvPr id="717" name="Google Shape;717;p20"/>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يفهم الفصحى واللهجات والإنجليزية</a:t>
            </a:r>
            <a:endParaRPr/>
          </a:p>
        </p:txBody>
      </p:sp>
      <p:sp>
        <p:nvSpPr>
          <p:cNvPr id="718" name="Google Shape;718;p20"/>
          <p:cNvSpPr txBox="1">
            <a:spLocks noGrp="1"/>
          </p:cNvSpPr>
          <p:nvPr>
            <p:ph type="body" idx="7"/>
          </p:nvPr>
        </p:nvSpPr>
        <p:spPr>
          <a:xfrm>
            <a:off x="9505950" y="6619875"/>
            <a:ext cx="73344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ثقة يمكن التحقق منها</a:t>
            </a:r>
            <a:endParaRPr/>
          </a:p>
        </p:txBody>
      </p:sp>
      <p:sp>
        <p:nvSpPr>
          <p:cNvPr id="719" name="Google Shape;719;p20"/>
          <p:cNvSpPr txBox="1">
            <a:spLocks noGrp="1"/>
          </p:cNvSpPr>
          <p:nvPr>
            <p:ph type="body" idx="8"/>
          </p:nvPr>
        </p:nvSpPr>
        <p:spPr>
          <a:xfrm>
            <a:off x="9505950" y="7324725"/>
            <a:ext cx="73344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كل نص شرعي يظهر مع مصدره ومرجعه الدقيق</a:t>
            </a:r>
            <a:endParaRPr/>
          </a:p>
        </p:txBody>
      </p:sp>
      <p:sp>
        <p:nvSpPr>
          <p:cNvPr id="720" name="Google Shape;720;p20"/>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12183F"/>
                </a:solidFill>
                <a:latin typeface="Readex Pro"/>
                <a:ea typeface="Readex Pro"/>
                <a:cs typeface="Readex Pro"/>
                <a:sym typeface="Readex Pro"/>
              </a:rPr>
              <a:t>صدق وخصوصية</a:t>
            </a:r>
            <a:endParaRPr/>
          </a:p>
        </p:txBody>
      </p:sp>
      <p:sp>
        <p:nvSpPr>
          <p:cNvPr id="721" name="Google Shape;721;p20"/>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4A5590"/>
                </a:solidFill>
                <a:latin typeface="Readex Pro"/>
                <a:ea typeface="Readex Pro"/>
                <a:cs typeface="Readex Pro"/>
                <a:sym typeface="Readex Pro"/>
              </a:rPr>
              <a:t>يمتنع بصدق عند غياب المرجع، ولا يطلب حسابًا ولا يحفظ المحادثات</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21</a:t>
            </a:fld>
            <a:endParaRPr/>
          </a:p>
        </p:txBody>
      </p:sp>
      <p:graphicFrame>
        <p:nvGraphicFramePr>
          <p:cNvPr id="731" name="Google Shape;731;p21"/>
          <p:cNvGraphicFramePr/>
          <p:nvPr/>
        </p:nvGraphicFramePr>
        <p:xfrm>
          <a:off x="1714500" y="3905250"/>
          <a:ext cx="15430500" cy="4724400"/>
        </p:xfrm>
        <a:graphic>
          <a:graphicData uri="http://schemas.openxmlformats.org/drawingml/2006/table">
            <a:tbl>
              <a:tblPr>
                <a:noFill/>
                <a:tableStyleId>{B8ED9858-D163-4338-9E88-1F424354888F}</a:tableStyleId>
              </a:tblPr>
              <a:tblGrid>
                <a:gridCol w="6830500">
                  <a:extLst>
                    <a:ext uri="{9D8B030D-6E8A-4147-A177-3AD203B41FA5}">
                      <a16:colId xmlns:a16="http://schemas.microsoft.com/office/drawing/2014/main" val="20001"/>
                    </a:ext>
                  </a:extLst>
                </a:gridCol>
                <a:gridCol w="5600000">
                  <a:extLst>
                    <a:ext uri="{9D8B030D-6E8A-4147-A177-3AD203B41FA5}">
                      <a16:colId xmlns:a16="http://schemas.microsoft.com/office/drawing/2014/main" val="20002"/>
                    </a:ext>
                  </a:extLst>
                </a:gridCol>
                <a:gridCol w="3000000">
                  <a:extLst>
                    <a:ext uri="{9D8B030D-6E8A-4147-A177-3AD203B41FA5}">
                      <a16:colId xmlns:a16="http://schemas.microsoft.com/office/drawing/2014/main" val="20003"/>
                    </a:ext>
                  </a:extLst>
                </a:gridCol>
              </a:tblGrid>
              <a:tr h="635000">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دورها</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التقنيات</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الطبقة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extLst>
                  <a:ext uri="{0D108BD9-81ED-4DB2-BD59-A6C34878D82A}">
                    <a16:rowId xmlns:a16="http://schemas.microsoft.com/office/drawing/2014/main" val="10000"/>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صفحة واحدة عربية أولًا مع نسخة إنجليزية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React 19 · TypeScript · Vite 7</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الواجهة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1"/>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حركة هادئة وأيقونات للواجهة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GSAP · Lenis · Phosphor Icons</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الحركة والتصميم</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2"/>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دالة واحدة للفهم والتوجيه بمحتوى مضمَّن</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Netlify Functions · Node.js 22</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الخادم والاستضافة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3"/>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فهم وتوجيه فقط، مع قائمة نماذج بديلة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Google Gemini API · Flash-Lite</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الذكاء الاصطناعي</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لقطات حرفية مُبصَّمة، بلا اتصال وقت التشغيل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Quranpedia API · Shamela · SHA-256</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المحتوى والتحقق</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اختبارات وحدة وتكامل وطرفية وتقييم حي</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Vitest · Testing Library · Playwright</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الاختبار والجودة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5842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بلا حسابات ولا قاعدة بيانات ولا حفظ للنصوص</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12183F"/>
                          </a:solidFill>
                          <a:latin typeface="Readex Pro"/>
                          <a:ea typeface="Readex Pro"/>
                          <a:cs typeface="Readex Pro"/>
                          <a:sym typeface="Readex Pro"/>
                        </a:rPr>
                        <a:t>CSP · Same-origin · Rate limit</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الأمان والخصوصية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bl>
          </a:graphicData>
        </a:graphic>
      </p:graphicFrame>
      <p:sp>
        <p:nvSpPr>
          <p:cNvPr id="732" name="Google Shape;732;p2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6150EA"/>
                </a:solidFill>
                <a:latin typeface="Readex Pro"/>
                <a:ea typeface="Readex Pro"/>
                <a:cs typeface="Readex Pro"/>
                <a:sym typeface="Readex Pro"/>
              </a:rPr>
              <a:t>جودة الحل التقني وتوظيف الذكاء الاصطناعي · 25%</a:t>
            </a:r>
            <a:endParaRPr/>
          </a:p>
        </p:txBody>
      </p:sp>
      <p:sp>
        <p:nvSpPr>
          <p:cNvPr id="733" name="Google Shape;733;p2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12183F"/>
                </a:solidFill>
                <a:latin typeface="Readex Pro"/>
                <a:ea typeface="Readex Pro"/>
                <a:cs typeface="Readex Pro"/>
                <a:sym typeface="Readex Pro"/>
              </a:rPr>
              <a:t>التقنيات المستخدمة</a:t>
            </a:r>
            <a:endParaRPr/>
          </a:p>
        </p:txBody>
      </p:sp>
      <p:sp>
        <p:nvSpPr>
          <p:cNvPr id="734" name="Google Shape;734;p2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4A5590"/>
                </a:solidFill>
                <a:latin typeface="Readex Pro"/>
                <a:ea typeface="Readex Pro"/>
                <a:cs typeface="Readex Pro"/>
                <a:sym typeface="Readex Pro"/>
              </a:rPr>
              <a:t>بنية بسيطة: صفحة واحدة، ودالة واحدة، ومحتوى مضمَّن بلا اتصال شبكي وقت التشغيل</a:t>
            </a:r>
            <a:endParaRPr/>
          </a:p>
        </p:txBody>
      </p:sp>
      <p:sp>
        <p:nvSpPr>
          <p:cNvPr id="735" name="Google Shape;735;p21"/>
          <p:cNvSpPr txBox="1">
            <a:spLocks noGrp="1"/>
          </p:cNvSpPr>
          <p:nvPr>
            <p:ph type="body" idx="3"/>
          </p:nvPr>
        </p:nvSpPr>
        <p:spPr>
          <a:xfrm>
            <a:off x="1409700" y="8810625"/>
            <a:ext cx="15430500" cy="457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4A5590"/>
                </a:solidFill>
                <a:latin typeface="Readex Pro"/>
                <a:ea typeface="Readex Pro"/>
                <a:cs typeface="Readex Pro"/>
                <a:sym typeface="Readex Pro"/>
              </a:rPr>
              <a:t>التكلفة التقديرية للتجربة الأولية: من 0 إلى 9 دولارات شهريًا — وفق تقديرات وثيقة التشغيل</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جودة الحل التقني وتوظيف الذكاء الاصطناعي · 25%</a:t>
            </a:r>
            <a:endParaRPr/>
          </a:p>
        </p:txBody>
      </p:sp>
      <p:sp>
        <p:nvSpPr>
          <p:cNvPr id="819" name="Google Shape;819;p24"/>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آلية عمل الحل</a:t>
            </a:r>
            <a:endParaRPr/>
          </a:p>
        </p:txBody>
      </p:sp>
      <p:sp>
        <p:nvSpPr>
          <p:cNvPr id="820" name="Google Shape;820;p24"/>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تجربة أو سؤال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فهم السياق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اقتراح موضوعات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اختيار المستخدم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رحلة تعلّم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محتوى موثوق وتأمل</a:t>
            </a:r>
            <a:endParaRPr/>
          </a:p>
        </p:txBody>
      </p:sp>
      <p:sp>
        <p:nvSpPr>
          <p:cNvPr id="821" name="Google Shape;821;p2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24</a:t>
            </a:fld>
            <a:endParaRPr/>
          </a:p>
        </p:txBody>
      </p:sp>
      <p:sp>
        <p:nvSpPr>
          <p:cNvPr id="822" name="Google Shape;822;p24"/>
          <p:cNvSpPr/>
          <p:nvPr/>
        </p:nvSpPr>
        <p:spPr>
          <a:xfrm>
            <a:off x="13716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38670" lvl="0" indent="0" algn="r" rtl="0">
              <a:spcBef>
                <a:spcPts val="0"/>
              </a:spcBef>
              <a:spcAft>
                <a:spcPts val="0"/>
              </a:spcAft>
              <a:buNone/>
            </a:pPr>
            <a:r>
              <a:rPr lang="ar-SA" sz="3600" b="1">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المدخلات</a:t>
            </a:r>
            <a:endParaRPr>
              <a:solidFill>
                <a:schemeClr val="dk1"/>
              </a:solidFill>
              <a:latin typeface="Readex Pro"/>
              <a:ea typeface="Readex Pro"/>
              <a:cs typeface="Readex Pro"/>
              <a:sym typeface="Readex Pro"/>
            </a:endParaRP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تجربة أو سؤال</a:t>
            </a:r>
            <a:endParaRPr>
              <a:solidFill>
                <a:schemeClr val="dk1"/>
              </a:solidFill>
              <a:latin typeface="Readex Pro"/>
              <a:ea typeface="Readex Pro"/>
              <a:cs typeface="Readex Pro"/>
              <a:sym typeface="Readex Pro"/>
            </a:endParaRP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بكلام المستخدم</a:t>
            </a:r>
            <a:endParaRPr>
              <a:solidFill>
                <a:schemeClr val="dk1"/>
              </a:solidFill>
              <a:latin typeface="Readex Pro"/>
              <a:ea typeface="Readex Pro"/>
              <a:cs typeface="Readex Pro"/>
              <a:sym typeface="Readex Pro"/>
            </a:endParaRPr>
          </a:p>
        </p:txBody>
      </p:sp>
      <p:sp>
        <p:nvSpPr>
          <p:cNvPr id="823" name="Google Shape;823;p24"/>
          <p:cNvSpPr/>
          <p:nvPr/>
        </p:nvSpPr>
        <p:spPr>
          <a:xfrm>
            <a:off x="9715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23307" lvl="0" indent="0" algn="r" rtl="0">
              <a:spcBef>
                <a:spcPts val="0"/>
              </a:spcBef>
              <a:spcAft>
                <a:spcPts val="0"/>
              </a:spcAft>
              <a:buNone/>
            </a:pPr>
            <a:r>
              <a:rPr lang="ar-SA" sz="3600" b="1">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المعالجة</a:t>
            </a:r>
            <a:endParaRPr>
              <a:solidFill>
                <a:schemeClr val="dk1"/>
              </a:solidFill>
              <a:latin typeface="Readex Pro"/>
              <a:ea typeface="Readex Pro"/>
              <a:cs typeface="Readex Pro"/>
              <a:sym typeface="Readex Pro"/>
            </a:endParaRP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الذكاء يفهم السياق</a:t>
            </a:r>
            <a:endParaRPr>
              <a:solidFill>
                <a:schemeClr val="dk1"/>
              </a:solidFill>
              <a:latin typeface="Readex Pro"/>
              <a:ea typeface="Readex Pro"/>
              <a:cs typeface="Readex Pro"/>
              <a:sym typeface="Readex Pro"/>
            </a:endParaRP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ويقترح موضوعات</a:t>
            </a:r>
            <a:endParaRPr sz="3600" b="1">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38125" lvl="0" indent="0" algn="r" rtl="0">
              <a:spcBef>
                <a:spcPts val="0"/>
              </a:spcBef>
              <a:spcAft>
                <a:spcPts val="0"/>
              </a:spcAft>
              <a:buNone/>
            </a:pPr>
            <a:r>
              <a:rPr lang="ar-SA" sz="3600" b="1">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المخرجات</a:t>
            </a:r>
            <a:endParaRPr>
              <a:solidFill>
                <a:schemeClr val="dk1"/>
              </a:solidFill>
              <a:latin typeface="Readex Pro"/>
              <a:ea typeface="Readex Pro"/>
              <a:cs typeface="Readex Pro"/>
              <a:sym typeface="Readex Pro"/>
            </a:endParaRP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آية وتفسيرها</a:t>
            </a:r>
            <a:endParaRPr>
              <a:solidFill>
                <a:schemeClr val="dk1"/>
              </a:solidFill>
              <a:latin typeface="Readex Pro"/>
              <a:ea typeface="Readex Pro"/>
              <a:cs typeface="Readex Pro"/>
              <a:sym typeface="Readex Pro"/>
            </a:endParaRP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وحديث وسيرة</a:t>
            </a:r>
            <a:endParaRPr sz="3600" b="1">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23307" lvl="0" indent="0" algn="r" rtl="0">
              <a:spcBef>
                <a:spcPts val="0"/>
              </a:spcBef>
              <a:spcAft>
                <a:spcPts val="0"/>
              </a:spcAft>
              <a:buNone/>
            </a:pPr>
            <a:r>
              <a:rPr lang="ar-SA" sz="3600" b="1">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marL="269999" lvl="0" indent="0" algn="r" rtl="1">
              <a:spcBef>
                <a:spcPts val="2300"/>
              </a:spcBef>
              <a:spcAft>
                <a:spcPts val="0"/>
              </a:spcAft>
              <a:buNone/>
            </a:pPr>
            <a:r>
              <a:rPr lang="ar-SA" sz="2700" b="1">
                <a:solidFill>
                  <a:srgbClr val="F2F4FF"/>
                </a:solidFill>
                <a:latin typeface="Readex Pro"/>
                <a:ea typeface="Readex Pro"/>
                <a:cs typeface="Readex Pro"/>
                <a:sym typeface="Readex Pro"/>
              </a:rPr>
              <a:t>الأثر</a:t>
            </a:r>
            <a:endParaRPr>
              <a:solidFill>
                <a:schemeClr val="dk1"/>
              </a:solidFill>
              <a:latin typeface="Readex Pro"/>
              <a:ea typeface="Readex Pro"/>
              <a:cs typeface="Readex Pro"/>
              <a:sym typeface="Readex Pro"/>
            </a:endParaRPr>
          </a:p>
          <a:p>
            <a:pPr marL="269999" lvl="0" indent="0" algn="r" rtl="1">
              <a:spcBef>
                <a:spcPts val="2200"/>
              </a:spcBef>
              <a:spcAft>
                <a:spcPts val="0"/>
              </a:spcAft>
              <a:buNone/>
            </a:pPr>
            <a:r>
              <a:rPr lang="ar-SA" sz="2175">
                <a:solidFill>
                  <a:srgbClr val="CBCFE6"/>
                </a:solidFill>
                <a:latin typeface="Readex Pro"/>
                <a:ea typeface="Readex Pro"/>
                <a:cs typeface="Readex Pro"/>
                <a:sym typeface="Readex Pro"/>
              </a:rPr>
              <a:t>محتوى موثوق</a:t>
            </a:r>
            <a:endParaRPr>
              <a:solidFill>
                <a:schemeClr val="dk1"/>
              </a:solidFill>
              <a:latin typeface="Readex Pro"/>
              <a:ea typeface="Readex Pro"/>
              <a:cs typeface="Readex Pro"/>
              <a:sym typeface="Readex Pro"/>
            </a:endParaRPr>
          </a:p>
          <a:p>
            <a:pPr marL="269999" lvl="0" indent="0" algn="r" rtl="1">
              <a:spcBef>
                <a:spcPts val="600"/>
              </a:spcBef>
              <a:spcAft>
                <a:spcPts val="0"/>
              </a:spcAft>
              <a:buNone/>
            </a:pPr>
            <a:r>
              <a:rPr lang="ar-SA" sz="2175">
                <a:solidFill>
                  <a:srgbClr val="CBCFE6"/>
                </a:solidFill>
                <a:latin typeface="Readex Pro"/>
                <a:ea typeface="Readex Pro"/>
                <a:cs typeface="Readex Pro"/>
                <a:sym typeface="Readex Pro"/>
              </a:rPr>
              <a:t>ومساحة للتأمل والدعاء</a:t>
            </a:r>
            <a:endParaRPr sz="3600" b="1">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تحقيق النفع وفق معيار نجاح المسار · 20%</a:t>
            </a:r>
            <a:endParaRPr/>
          </a:p>
        </p:txBody>
      </p:sp>
      <p:sp>
        <p:nvSpPr>
          <p:cNvPr id="844" name="Google Shape;844;p26"/>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مثال حقيقي من النسخة الحالية</a:t>
            </a:r>
            <a:endParaRPr/>
          </a:p>
        </p:txBody>
      </p:sp>
      <p:sp>
        <p:nvSpPr>
          <p:cNvPr id="853" name="Lead"/>
          <p:cNvSpPr txBox="1">
            <a:spLocks noGrp="1"/>
          </p:cNvSpPr>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«انقبلت في وظيفة جديدة…»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اختار «الأمانة»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آية وتفسير وحديث صحيح وموقف من السيرة، كلٌّ بمصدره</a:t>
            </a:r>
            <a:endParaRPr/>
          </a:p>
        </p:txBody>
      </p:sp>
      <p:sp>
        <p:nvSpPr>
          <p:cNvPr id="845" name="Google Shape;845;p2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26</a:t>
            </a:fld>
            <a:endParaRPr/>
          </a:p>
        </p:txBody>
      </p:sp>
      <p:pic>
        <p:nvPicPr>
          <p:cNvPr id="846" name="Screenshot tmn-example-input" descr="المدخل «انقبلت في وظيفة جديدة…» وقراءة الذكاء الاصطناعي له"/>
          <p:cNvPicPr>
            <a:picLocks noGrp="1" noChangeAspect="1"/>
          </p:cNvPicPr>
          <p:nvPr>
            <p:ph type="pic" idx="2"/>
          </p:nvPr>
        </p:nvPicPr>
        <p:blipFill>
          <a:blip r:embed="rId5"/>
          <a:srcRect/>
          <a:stretch>
            <a:fillRect/>
          </a:stretch>
        </p:blipFill>
        <p:spPr>
          <a:xfrm>
            <a:off x="12077700" y="3714750"/>
            <a:ext cx="4762500" cy="4286400"/>
          </a:xfrm>
          <a:prstGeom prst="roundRect">
            <a:avLst>
              <a:gd name="adj" fmla="val 5252"/>
            </a:avLst>
          </a:prstGeom>
          <a:ln w="11425" cap="flat" cmpd="sng">
            <a:solidFill>
              <a:srgbClr val="4A5590"/>
            </a:solidFill>
            <a:prstDash val="solid"/>
            <a:round/>
            <a:headEnd type="none" w="sm" len="sm"/>
            <a:tailEnd type="none" w="sm" len="sm"/>
          </a:ln>
        </p:spPr>
      </p:pic>
      <p:sp>
        <p:nvSpPr>
          <p:cNvPr id="847" name="Google Shape;847;p26"/>
          <p:cNvSpPr txBox="1">
            <a:spLocks noGrp="1"/>
          </p:cNvSpPr>
          <p:nvPr>
            <p:ph type="body" idx="3"/>
          </p:nvPr>
        </p:nvSpPr>
        <p:spPr>
          <a:xfrm>
            <a:off x="12115800" y="8334375"/>
            <a:ext cx="4762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المدخل وقراءة الذكاء الاصطناعي له</a:t>
            </a:r>
            <a:endParaRPr/>
          </a:p>
        </p:txBody>
      </p:sp>
      <p:sp>
        <p:nvSpPr>
          <p:cNvPr id="848" name="Google Shape;848;p26"/>
          <p:cNvSpPr txBox="1">
            <a:spLocks noGrp="1"/>
          </p:cNvSpPr>
          <p:nvPr>
            <p:ph type="body" idx="5"/>
          </p:nvPr>
        </p:nvSpPr>
        <p:spPr>
          <a:xfrm>
            <a:off x="6762750" y="8334375"/>
            <a:ext cx="4762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4 موضوعات مقترحة </a:t>
            </a:r>
            <a:r>
              <a:rPr lang="ar-SA" sz="2250" b="0">
                <a:solidFill>
                  <a:srgbClr val="CBCFE6"/>
                </a:solidFill>
                <a:latin typeface="Arial"/>
                <a:ea typeface="Arial"/>
                <a:cs typeface="Arial"/>
                <a:sym typeface="Arial"/>
              </a:rPr>
              <a:t>←</a:t>
            </a:r>
            <a:r>
              <a:rPr lang="ar-SA" sz="2250" b="0">
                <a:solidFill>
                  <a:srgbClr val="CBCFE6"/>
                </a:solidFill>
                <a:latin typeface="Readex Pro"/>
                <a:ea typeface="Readex Pro"/>
                <a:cs typeface="Readex Pro"/>
                <a:sym typeface="Readex Pro"/>
              </a:rPr>
              <a:t> اختار «الأمانة»</a:t>
            </a:r>
            <a:endParaRPr/>
          </a:p>
        </p:txBody>
      </p:sp>
      <p:sp>
        <p:nvSpPr>
          <p:cNvPr id="849" name="Google Shape;849;p26"/>
          <p:cNvSpPr txBox="1">
            <a:spLocks noGrp="1"/>
          </p:cNvSpPr>
          <p:nvPr>
            <p:ph type="body" idx="7"/>
          </p:nvPr>
        </p:nvSpPr>
        <p:spPr>
          <a:xfrm>
            <a:off x="1409700" y="8334375"/>
            <a:ext cx="4762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المؤمنون 23:8 · الطبري ج19 ص11</a:t>
            </a:r>
            <a:endParaRPr/>
          </a:p>
        </p:txBody>
      </p:sp>
      <p:pic>
        <p:nvPicPr>
          <p:cNvPr id="850" name="Google Shape;850;p26"/>
          <p:cNvPicPr preferRelativeResize="0"/>
          <p:nvPr/>
        </p:nvPicPr>
        <p:blipFill rotWithShape="1">
          <a:blip r:embed="rId4">
            <a:alphaModFix/>
          </a:blip>
          <a:srcRect/>
          <a:stretch/>
        </p:blipFill>
        <p:spPr>
          <a:xfrm>
            <a:off x="1066800" y="693967"/>
            <a:ext cx="3429002" cy="879015"/>
          </a:xfrm>
          <a:prstGeom prst="rect">
            <a:avLst/>
          </a:prstGeom>
          <a:noFill/>
          <a:ln>
            <a:noFill/>
          </a:ln>
        </p:spPr>
      </p:pic>
      <p:pic>
        <p:nvPicPr>
          <p:cNvPr id="851" name="Screenshot tmn-example-topics" descr="الموضوعات المقترحة: الشكر، القلق والخوف، التوكل، الأمانة"/>
          <p:cNvPicPr>
            <a:picLocks noGrp="1" noChangeAspect="1"/>
          </p:cNvPicPr>
          <p:nvPr>
            <p:ph type="pic" idx="2"/>
          </p:nvPr>
        </p:nvPicPr>
        <p:blipFill>
          <a:blip r:embed="rId6"/>
          <a:srcRect/>
          <a:stretch>
            <a:fillRect/>
          </a:stretch>
        </p:blipFill>
        <p:spPr>
          <a:xfrm>
            <a:off x="6743700" y="3714675"/>
            <a:ext cx="4762500" cy="4286400"/>
          </a:xfrm>
          <a:prstGeom prst="roundRect">
            <a:avLst>
              <a:gd name="adj" fmla="val 5252"/>
            </a:avLst>
          </a:prstGeom>
          <a:ln w="11425" cap="flat" cmpd="sng">
            <a:solidFill>
              <a:srgbClr val="4A5590"/>
            </a:solidFill>
            <a:prstDash val="solid"/>
            <a:round/>
            <a:headEnd type="none" w="sm" len="sm"/>
            <a:tailEnd type="none" w="sm" len="sm"/>
          </a:ln>
        </p:spPr>
      </p:pic>
      <p:pic>
        <p:nvPicPr>
          <p:cNvPr id="852" name="Screenshot tmn-example-verse" descr="آية المؤمنون 23:8 من قرآنبيديا وتفسير الطبري ج19 ص11 مع مصدريهما"/>
          <p:cNvPicPr>
            <a:picLocks noGrp="1" noChangeAspect="1"/>
          </p:cNvPicPr>
          <p:nvPr>
            <p:ph type="pic" idx="2"/>
          </p:nvPr>
        </p:nvPicPr>
        <p:blipFill>
          <a:blip r:embed="rId7"/>
          <a:srcRect/>
          <a:stretch>
            <a:fillRect/>
          </a:stretch>
        </p:blipFill>
        <p:spPr>
          <a:xfrm>
            <a:off x="1409700" y="3714750"/>
            <a:ext cx="4762500" cy="4286400"/>
          </a:xfrm>
          <a:prstGeom prst="roundRect">
            <a:avLst>
              <a:gd name="adj" fmla="val 5252"/>
            </a:avLst>
          </a:prstGeom>
          <a:ln w="11425" cap="flat" cmpd="sng">
            <a:solidFill>
              <a:srgbClr val="4A559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860" name="Google Shape;860;p2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الابتكار والقيمة المضافة · 15%</a:t>
            </a:r>
            <a:endParaRPr/>
          </a:p>
        </p:txBody>
      </p:sp>
      <p:sp>
        <p:nvSpPr>
          <p:cNvPr id="861" name="Google Shape;861;p2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ما يميز طمأنينة</a:t>
            </a:r>
            <a:endParaRPr/>
          </a:p>
        </p:txBody>
      </p:sp>
      <p:sp>
        <p:nvSpPr>
          <p:cNvPr id="862" name="Google Shape;862;p2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مرونة الكتابة الحرة… وانضباط المصدر</a:t>
            </a:r>
            <a:endParaRPr/>
          </a:p>
        </p:txBody>
      </p:sp>
      <p:sp>
        <p:nvSpPr>
          <p:cNvPr id="863" name="Google Shape;863;p2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27</a:t>
            </a:fld>
            <a:endParaRPr/>
          </a:p>
        </p:txBody>
      </p:sp>
      <p:pic>
        <p:nvPicPr>
          <p:cNvPr id="864" name="Google Shape;864;p27"/>
          <p:cNvPicPr preferRelativeResize="0"/>
          <p:nvPr/>
        </p:nvPicPr>
        <p:blipFill rotWithShape="1">
          <a:blip r:embed="rId5">
            <a:alphaModFix/>
          </a:blip>
          <a:srcRect/>
          <a:stretch/>
        </p:blipFill>
        <p:spPr>
          <a:xfrm>
            <a:off x="10458450" y="4000500"/>
            <a:ext cx="1428750" cy="1428750"/>
          </a:xfrm>
          <a:prstGeom prst="rect">
            <a:avLst/>
          </a:prstGeom>
          <a:noFill/>
          <a:ln>
            <a:noFill/>
          </a:ln>
        </p:spPr>
      </p:pic>
      <p:sp>
        <p:nvSpPr>
          <p:cNvPr id="865" name="Google Shape;865;p27"/>
          <p:cNvSpPr txBox="1">
            <a:spLocks noGrp="1"/>
          </p:cNvSpPr>
          <p:nvPr>
            <p:ph type="body" idx="3"/>
          </p:nvPr>
        </p:nvSpPr>
        <p:spPr>
          <a:xfrm>
            <a:off x="134112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من تجربتك أنت</a:t>
            </a:r>
            <a:endParaRPr/>
          </a:p>
        </p:txBody>
      </p:sp>
      <p:sp>
        <p:nvSpPr>
          <p:cNvPr id="866" name="Google Shape;866;p27"/>
          <p:cNvSpPr txBox="1">
            <a:spLocks noGrp="1"/>
          </p:cNvSpPr>
          <p:nvPr>
            <p:ph type="body" idx="4"/>
          </p:nvPr>
        </p:nvSpPr>
        <p:spPr>
          <a:xfrm>
            <a:off x="134112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البداية من تجربة أو سؤال، لا من مصطلح</a:t>
            </a:r>
            <a:endParaRPr/>
          </a:p>
        </p:txBody>
      </p:sp>
      <p:pic>
        <p:nvPicPr>
          <p:cNvPr id="867" name="Google Shape;867;p27"/>
          <p:cNvPicPr preferRelativeResize="0"/>
          <p:nvPr/>
        </p:nvPicPr>
        <p:blipFill rotWithShape="1">
          <a:blip r:embed="rId6">
            <a:alphaModFix/>
          </a:blip>
          <a:srcRect/>
          <a:stretch/>
        </p:blipFill>
        <p:spPr>
          <a:xfrm>
            <a:off x="6457950" y="4000500"/>
            <a:ext cx="1428750" cy="1428750"/>
          </a:xfrm>
          <a:prstGeom prst="rect">
            <a:avLst/>
          </a:prstGeom>
          <a:noFill/>
          <a:ln>
            <a:noFill/>
          </a:ln>
        </p:spPr>
      </p:pic>
      <p:sp>
        <p:nvSpPr>
          <p:cNvPr id="868" name="Google Shape;868;p27"/>
          <p:cNvSpPr txBox="1">
            <a:spLocks noGrp="1"/>
          </p:cNvSpPr>
          <p:nvPr>
            <p:ph type="body" idx="5"/>
          </p:nvPr>
        </p:nvSpPr>
        <p:spPr>
          <a:xfrm>
            <a:off x="94107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اكتشاف ديناميكي</a:t>
            </a:r>
            <a:endParaRPr/>
          </a:p>
        </p:txBody>
      </p:sp>
      <p:sp>
        <p:nvSpPr>
          <p:cNvPr id="869" name="Google Shape;869;p27"/>
          <p:cNvSpPr txBox="1">
            <a:spLocks noGrp="1"/>
          </p:cNvSpPr>
          <p:nvPr>
            <p:ph type="body" idx="6"/>
          </p:nvPr>
        </p:nvSpPr>
        <p:spPr>
          <a:xfrm>
            <a:off x="94107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موضوعات تتغير بحسب ما تكتبه، لا قائمة ثابتة</a:t>
            </a:r>
            <a:endParaRPr/>
          </a:p>
        </p:txBody>
      </p:sp>
      <p:pic>
        <p:nvPicPr>
          <p:cNvPr id="870" name="Google Shape;870;p27"/>
          <p:cNvPicPr preferRelativeResize="0"/>
          <p:nvPr/>
        </p:nvPicPr>
        <p:blipFill rotWithShape="1">
          <a:blip r:embed="rId7">
            <a:alphaModFix/>
          </a:blip>
          <a:srcRect/>
          <a:stretch/>
        </p:blipFill>
        <p:spPr>
          <a:xfrm>
            <a:off x="2457450" y="4000500"/>
            <a:ext cx="1428750" cy="1428750"/>
          </a:xfrm>
          <a:prstGeom prst="rect">
            <a:avLst/>
          </a:prstGeom>
          <a:noFill/>
          <a:ln>
            <a:noFill/>
          </a:ln>
        </p:spPr>
      </p:pic>
      <p:sp>
        <p:nvSpPr>
          <p:cNvPr id="871" name="Google Shape;871;p27"/>
          <p:cNvSpPr txBox="1">
            <a:spLocks noGrp="1"/>
          </p:cNvSpPr>
          <p:nvPr>
            <p:ph type="body" idx="7"/>
          </p:nvPr>
        </p:nvSpPr>
        <p:spPr>
          <a:xfrm>
            <a:off x="54102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أنت من يختار</a:t>
            </a:r>
            <a:endParaRPr/>
          </a:p>
        </p:txBody>
      </p:sp>
      <p:sp>
        <p:nvSpPr>
          <p:cNvPr id="872" name="Google Shape;872;p27"/>
          <p:cNvSpPr txBox="1">
            <a:spLocks noGrp="1"/>
          </p:cNvSpPr>
          <p:nvPr>
            <p:ph type="body" idx="8"/>
          </p:nvPr>
        </p:nvSpPr>
        <p:spPr>
          <a:xfrm>
            <a:off x="54102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تختار الموضوع الذي تريد، ثم تبدأ رحلتك</a:t>
            </a:r>
            <a:endParaRPr/>
          </a:p>
        </p:txBody>
      </p:sp>
      <p:pic>
        <p:nvPicPr>
          <p:cNvPr id="873" name="Google Shape;873;p27"/>
          <p:cNvPicPr preferRelativeResize="0"/>
          <p:nvPr/>
        </p:nvPicPr>
        <p:blipFill rotWithShape="1">
          <a:blip r:embed="rId8">
            <a:alphaModFix/>
          </a:blip>
          <a:srcRect/>
          <a:stretch/>
        </p:blipFill>
        <p:spPr>
          <a:xfrm>
            <a:off x="14458950" y="4000500"/>
            <a:ext cx="1428750" cy="1428750"/>
          </a:xfrm>
          <a:prstGeom prst="rect">
            <a:avLst/>
          </a:prstGeom>
          <a:noFill/>
          <a:ln>
            <a:noFill/>
          </a:ln>
        </p:spPr>
      </p:pic>
      <p:sp>
        <p:nvSpPr>
          <p:cNvPr id="874" name="Google Shape;874;p27"/>
          <p:cNvSpPr txBox="1">
            <a:spLocks noGrp="1"/>
          </p:cNvSpPr>
          <p:nvPr>
            <p:ph type="body" idx="9"/>
          </p:nvPr>
        </p:nvSpPr>
        <p:spPr>
          <a:xfrm>
            <a:off x="14097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1">
                <a:solidFill>
                  <a:srgbClr val="F2F4FF"/>
                </a:solidFill>
                <a:latin typeface="Readex Pro"/>
                <a:ea typeface="Readex Pro"/>
                <a:cs typeface="Readex Pro"/>
                <a:sym typeface="Readex Pro"/>
              </a:rPr>
              <a:t>الذكاء يوجّه فقط</a:t>
            </a:r>
            <a:endParaRPr/>
          </a:p>
        </p:txBody>
      </p:sp>
      <p:sp>
        <p:nvSpPr>
          <p:cNvPr id="875" name="Google Shape;875;p27"/>
          <p:cNvSpPr txBox="1">
            <a:spLocks noGrp="1"/>
          </p:cNvSpPr>
          <p:nvPr>
            <p:ph type="body" idx="13"/>
          </p:nvPr>
        </p:nvSpPr>
        <p:spPr>
          <a:xfrm>
            <a:off x="14097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والنص الشرعي من مصادر موثوقة ومراجَعة</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883" name="Google Shape;883;p28"/>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جودة الحل التقني وتوظيف الذكاء الاصطناعي · 25%</a:t>
            </a:r>
            <a:endParaRPr/>
          </a:p>
        </p:txBody>
      </p:sp>
      <p:sp>
        <p:nvSpPr>
          <p:cNvPr id="884" name="Google Shape;884;p28"/>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الذكاء الاصطناعي يوجّه… ولا يُفتي</a:t>
            </a:r>
            <a:endParaRPr/>
          </a:p>
        </p:txBody>
      </p:sp>
      <p:sp>
        <p:nvSpPr>
          <p:cNvPr id="885" name="Google Shape;885;p28"/>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النص الشرعي لا يكتبه النموذج أبدًا، والحدود مطبّقة في الكود لا في التعليمات فقط</a:t>
            </a:r>
            <a:endParaRPr/>
          </a:p>
        </p:txBody>
      </p:sp>
      <p:sp>
        <p:nvSpPr>
          <p:cNvPr id="886" name="Google Shape;886;p2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28</a:t>
            </a:fld>
            <a:endParaRPr/>
          </a:p>
        </p:txBody>
      </p:sp>
      <p:sp>
        <p:nvSpPr>
          <p:cNvPr id="887" name="Google Shape;887;p28"/>
          <p:cNvSpPr txBox="1">
            <a:spLocks noGrp="1"/>
          </p:cNvSpPr>
          <p:nvPr>
            <p:ph type="body" idx="3"/>
          </p:nvPr>
        </p:nvSpPr>
        <p:spPr>
          <a:xfrm>
            <a:off x="969645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ما يفعله</a:t>
            </a:r>
            <a:endParaRPr/>
          </a:p>
        </p:txBody>
      </p:sp>
      <p:sp>
        <p:nvSpPr>
          <p:cNvPr id="888" name="Google Shape;888;p28"/>
          <p:cNvSpPr txBox="1">
            <a:spLocks noGrp="1"/>
          </p:cNvSpPr>
          <p:nvPr>
            <p:ph type="body" idx="4"/>
          </p:nvPr>
        </p:nvSpPr>
        <p:spPr>
          <a:xfrm>
            <a:off x="969645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دور توجيهي داخل حدود واضحة</a:t>
            </a:r>
            <a:endParaRPr/>
          </a:p>
        </p:txBody>
      </p:sp>
      <p:sp>
        <p:nvSpPr>
          <p:cNvPr id="889" name="Google Shape;889;p28"/>
          <p:cNvSpPr txBox="1">
            <a:spLocks noGrp="1"/>
          </p:cNvSpPr>
          <p:nvPr>
            <p:ph type="body" idx="5"/>
          </p:nvPr>
        </p:nvSpPr>
        <p:spPr>
          <a:xfrm>
            <a:off x="140970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1">
                <a:solidFill>
                  <a:srgbClr val="2EF2C2"/>
                </a:solidFill>
                <a:latin typeface="Readex Pro"/>
                <a:ea typeface="Readex Pro"/>
                <a:cs typeface="Readex Pro"/>
                <a:sym typeface="Readex Pro"/>
              </a:rPr>
              <a:t>ما لا يفعله</a:t>
            </a:r>
            <a:endParaRPr/>
          </a:p>
        </p:txBody>
      </p:sp>
      <p:sp>
        <p:nvSpPr>
          <p:cNvPr id="890" name="Google Shape;890;p28"/>
          <p:cNvSpPr txBox="1">
            <a:spLocks noGrp="1"/>
          </p:cNvSpPr>
          <p:nvPr>
            <p:ph type="body" idx="6"/>
          </p:nvPr>
        </p:nvSpPr>
        <p:spPr>
          <a:xfrm>
            <a:off x="140970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pPr>
            <a:r>
              <a:rPr lang="ar-SA" sz="2400" b="0">
                <a:solidFill>
                  <a:srgbClr val="CBCFE6"/>
                </a:solidFill>
                <a:latin typeface="Readex Pro"/>
                <a:ea typeface="Readex Pro"/>
                <a:cs typeface="Readex Pro"/>
                <a:sym typeface="Readex Pro"/>
              </a:rPr>
              <a:t>الخادم يرفض أي نص شرعي من النموذج</a:t>
            </a:r>
            <a:endParaRPr/>
          </a:p>
        </p:txBody>
      </p:sp>
      <p:sp>
        <p:nvSpPr>
          <p:cNvPr id="891" name="Google Shape;891;p28"/>
          <p:cNvSpPr txBox="1">
            <a:spLocks noGrp="1"/>
          </p:cNvSpPr>
          <p:nvPr>
            <p:ph type="body" idx="7"/>
          </p:nvPr>
        </p:nvSpPr>
        <p:spPr>
          <a:xfrm>
            <a:off x="969645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يفهم سياق ما يكتبه المستخدم</a:t>
            </a:r>
            <a:endParaRPr/>
          </a:p>
          <a:p>
            <a:pPr marL="0" lvl="0" indent="0" algn="r" rtl="0">
              <a:lnSpc>
                <a:spcPct val="100000"/>
              </a:lnSpc>
              <a:spcBef>
                <a:spcPts val="0"/>
              </a:spcBef>
              <a:spcAft>
                <a:spcPts val="0"/>
              </a:spcAft>
              <a:buSzPts val="2550"/>
              <a:buNone/>
            </a:pPr>
            <a:endParaRPr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يقترح الموضوعات المناسبة</a:t>
            </a:r>
            <a:endParaRPr/>
          </a:p>
          <a:p>
            <a:pPr marL="0" lvl="0" indent="0" algn="r" rtl="0">
              <a:lnSpc>
                <a:spcPct val="100000"/>
              </a:lnSpc>
              <a:spcBef>
                <a:spcPts val="0"/>
              </a:spcBef>
              <a:spcAft>
                <a:spcPts val="0"/>
              </a:spcAft>
              <a:buSzPts val="2550"/>
              <a:buNone/>
            </a:pPr>
            <a:endParaRPr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يرتّب مسار رحلة التعلّم</a:t>
            </a:r>
            <a:endParaRPr/>
          </a:p>
        </p:txBody>
      </p:sp>
      <p:sp>
        <p:nvSpPr>
          <p:cNvPr id="892" name="Google Shape;892;p28"/>
          <p:cNvSpPr txBox="1">
            <a:spLocks noGrp="1"/>
          </p:cNvSpPr>
          <p:nvPr>
            <p:ph type="body" idx="8"/>
          </p:nvPr>
        </p:nvSpPr>
        <p:spPr>
          <a:xfrm>
            <a:off x="140970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لا يخترع آية أو حديثًا أو مصدرًا</a:t>
            </a:r>
            <a:endParaRPr/>
          </a:p>
          <a:p>
            <a:pPr marL="0" lvl="0" indent="0" algn="r" rtl="0">
              <a:lnSpc>
                <a:spcPct val="100000"/>
              </a:lnSpc>
              <a:spcBef>
                <a:spcPts val="0"/>
              </a:spcBef>
              <a:spcAft>
                <a:spcPts val="0"/>
              </a:spcAft>
              <a:buSzPts val="2550"/>
              <a:buNone/>
            </a:pPr>
            <a:endParaRPr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لا يقدّم نفسه مفتيًا أو مرجعًا دينيًا</a:t>
            </a:r>
            <a:endParaRPr/>
          </a:p>
          <a:p>
            <a:pPr marL="0" lvl="0" indent="0" algn="r" rtl="0">
              <a:lnSpc>
                <a:spcPct val="100000"/>
              </a:lnSpc>
              <a:spcBef>
                <a:spcPts val="0"/>
              </a:spcBef>
              <a:spcAft>
                <a:spcPts val="0"/>
              </a:spcAft>
              <a:buSzPts val="2550"/>
              <a:buNone/>
            </a:pPr>
            <a:endParaRPr sz="2550" b="0">
              <a:solidFill>
                <a:srgbClr val="F2F4FF"/>
              </a:solidFill>
              <a:latin typeface="Readex Pro"/>
              <a:ea typeface="Readex Pro"/>
              <a:cs typeface="Readex Pro"/>
              <a:sym typeface="Readex Pro"/>
            </a:endParaRPr>
          </a:p>
          <a:p>
            <a:pPr marL="0" lvl="0" indent="0" algn="r" rtl="1">
              <a:lnSpc>
                <a:spcPct val="100000"/>
              </a:lnSpc>
              <a:spcBef>
                <a:spcPts val="0"/>
              </a:spcBef>
              <a:spcAft>
                <a:spcPts val="0"/>
              </a:spcAft>
              <a:buSzPts val="2550"/>
              <a:buNone/>
            </a:pPr>
            <a:r>
              <a:rPr lang="ar-SA" sz="2550" b="0">
                <a:solidFill>
                  <a:srgbClr val="F2F4FF"/>
                </a:solidFill>
                <a:latin typeface="Readex Pro"/>
                <a:ea typeface="Readex Pro"/>
                <a:cs typeface="Readex Pro"/>
                <a:sym typeface="Readex Pro"/>
              </a:rPr>
              <a:t>المحتوى الديني من مصادر معتمدة ومراجَعة</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a:spLocks noGrp="1"/>
          </p:cNvSpPr>
          <p:nvPr>
            <p:ph type="body" idx="1"/>
          </p:nvPr>
        </p:nvSpPr>
        <p:spPr>
          <a:xfrm>
            <a:off x="3810000" y="5676900"/>
            <a:ext cx="106680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0">
                <a:solidFill>
                  <a:srgbClr val="F2F4FF"/>
                </a:solidFill>
                <a:latin typeface="Readex Pro"/>
                <a:ea typeface="Readex Pro"/>
                <a:cs typeface="Readex Pro"/>
                <a:sym typeface="Readex Pro"/>
              </a:rPr>
              <a:t>الذكاء يساعدك على الاكتشاف، والمعرفة تأتي من مصادرها.</a:t>
            </a:r>
            <a:endParaRPr/>
          </a:p>
        </p:txBody>
      </p:sp>
      <p:sp>
        <p:nvSpPr>
          <p:cNvPr id="916" name="Google Shape;916;p31"/>
          <p:cNvSpPr txBox="1">
            <a:spLocks noGrp="1"/>
          </p:cNvSpPr>
          <p:nvPr>
            <p:ph type="body" idx="2"/>
          </p:nvPr>
        </p:nvSpPr>
        <p:spPr>
          <a:xfrm>
            <a:off x="3810000" y="6653200"/>
            <a:ext cx="10668000" cy="666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pPr>
            <a:r>
              <a:rPr lang="ar-SA" sz="2100" b="0">
                <a:solidFill>
                  <a:srgbClr val="CBCFE6"/>
                </a:solidFill>
                <a:latin typeface="Readex Pro"/>
                <a:ea typeface="Readex Pro"/>
                <a:cs typeface="Readex Pro"/>
                <a:sym typeface="Readex Pro"/>
              </a:rPr>
              <a:t>صاحبة الفكرة: المهندسة يارا عبدالرحيم الطويرقي</a:t>
            </a:r>
            <a:endParaRPr/>
          </a:p>
        </p:txBody>
      </p:sp>
      <p:sp>
        <p:nvSpPr>
          <p:cNvPr id="917" name="Google Shape;917;p31"/>
          <p:cNvSpPr txBox="1">
            <a:spLocks noGrp="1"/>
          </p:cNvSpPr>
          <p:nvPr>
            <p:ph type="title"/>
          </p:nvPr>
        </p:nvSpPr>
        <p:spPr>
          <a:xfrm>
            <a:off x="3810000" y="3819525"/>
            <a:ext cx="10668000" cy="1428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200"/>
              <a:buNone/>
            </a:pPr>
            <a:r>
              <a:rPr lang="ar-SA" sz="7200" b="1">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spcFirstLastPara="1" wrap="square" lIns="0" tIns="0" rIns="0" bIns="0" anchor="t" anchorCtr="0">
            <a:noAutofit/>
          </a:bodyPr>
          <a:lstStyle/>
          <a:p>
            <a:pPr marL="0" lvl="0" indent="0" algn="r" rtl="1">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w="9525" cap="flat" cmpd="sng">
            <a:solidFill>
              <a:srgbClr val="2EF2C2"/>
            </a:solidFill>
            <a:prstDash val="solid"/>
            <a:round/>
            <a:headEnd type="none" w="med" len="med"/>
            <a:tailEnd type="none" w="med" len="med"/>
          </a:ln>
        </p:spPr>
      </p:cxnSp>
      <p:cxnSp>
        <p:nvCxnSpPr>
          <p:cNvPr id="926" name="Google Shape;926;p31"/>
          <p:cNvCxnSpPr/>
          <p:nvPr/>
        </p:nvCxnSpPr>
        <p:spPr>
          <a:xfrm>
            <a:off x="5075007" y="8142400"/>
            <a:ext cx="0" cy="453600"/>
          </a:xfrm>
          <a:prstGeom prst="straightConnector1">
            <a:avLst/>
          </a:prstGeom>
          <a:noFill/>
          <a:ln w="9525" cap="flat" cmpd="sng">
            <a:solidFill>
              <a:srgbClr val="2EF2C2"/>
            </a:solidFill>
            <a:prstDash val="solid"/>
            <a:round/>
            <a:headEnd type="none" w="med" len="med"/>
            <a:tailEnd type="none" w="med" len="med"/>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w="9525" cap="flat" cmpd="sng">
            <a:solidFill>
              <a:srgbClr val="2EF2C2"/>
            </a:solidFill>
            <a:prstDash val="solid"/>
            <a:round/>
            <a:headEnd type="none" w="med" len="med"/>
            <a:tailEnd type="non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639" name="Google Shape;639;p17"/>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2EF2C2"/>
                </a:solidFill>
                <a:latin typeface="Readex Pro"/>
                <a:ea typeface="Readex Pro"/>
                <a:cs typeface="Readex Pro"/>
                <a:sym typeface="Readex Pro"/>
              </a:rPr>
              <a:t>وضوح العرض وإتاحة التحقق · 5%</a:t>
            </a:r>
            <a:endParaRPr/>
          </a:p>
        </p:txBody>
      </p:sp>
      <p:sp>
        <p:nvSpPr>
          <p:cNvPr id="640" name="Google Shape;640;p17"/>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F2F4FF"/>
                </a:solidFill>
                <a:latin typeface="Readex Pro"/>
                <a:ea typeface="Readex Pro"/>
                <a:cs typeface="Readex Pro"/>
                <a:sym typeface="Readex Pro"/>
              </a:rPr>
              <a:t>أرقام قابلة للتحقق</a:t>
            </a:r>
            <a:endParaRPr/>
          </a:p>
        </p:txBody>
      </p:sp>
      <p:sp>
        <p:nvSpPr>
          <p:cNvPr id="641" name="Google Shape;641;p17"/>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CBCFE6"/>
                </a:solidFill>
                <a:latin typeface="Readex Pro"/>
                <a:ea typeface="Readex Pro"/>
                <a:cs typeface="Readex Pro"/>
                <a:sym typeface="Readex Pro"/>
              </a:rPr>
              <a:t>كل رقم في العرض يُعاد إنتاجه بأمر واحد من مستودع المشروع</a:t>
            </a:r>
            <a:endParaRPr/>
          </a:p>
        </p:txBody>
      </p:sp>
      <p:sp>
        <p:nvSpPr>
          <p:cNvPr id="642" name="Google Shape;642;p1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17</a:t>
            </a:fld>
            <a:endParaRPr/>
          </a:p>
        </p:txBody>
      </p:sp>
      <p:graphicFrame>
        <p:nvGraphicFramePr>
          <p:cNvPr id="643" name="Google Shape;643;p17"/>
          <p:cNvGraphicFramePr/>
          <p:nvPr/>
        </p:nvGraphicFramePr>
        <p:xfrm>
          <a:off x="1314450" y="3905250"/>
          <a:ext cx="15430500" cy="4279900"/>
        </p:xfrm>
        <a:graphic>
          <a:graphicData uri="http://schemas.openxmlformats.org/drawingml/2006/table">
            <a:tbl>
              <a:tblPr>
                <a:noFill/>
                <a:tableStyleId>{B8ED9858-D163-4338-9E88-1F424354888F}</a:tableStyleId>
              </a:tblPr>
              <a:tblGrid>
                <a:gridCol w="3700000">
                  <a:extLst>
                    <a:ext uri="{9D8B030D-6E8A-4147-A177-3AD203B41FA5}">
                      <a16:colId xmlns:a16="http://schemas.microsoft.com/office/drawing/2014/main" val="20000"/>
                    </a:ext>
                  </a:extLst>
                </a:gridCol>
                <a:gridCol w="3330500">
                  <a:extLst>
                    <a:ext uri="{9D8B030D-6E8A-4147-A177-3AD203B41FA5}">
                      <a16:colId xmlns:a16="http://schemas.microsoft.com/office/drawing/2014/main" val="20001"/>
                    </a:ext>
                  </a:extLst>
                </a:gridCol>
                <a:gridCol w="3300000">
                  <a:extLst>
                    <a:ext uri="{9D8B030D-6E8A-4147-A177-3AD203B41FA5}">
                      <a16:colId xmlns:a16="http://schemas.microsoft.com/office/drawing/2014/main" val="20002"/>
                    </a:ext>
                  </a:extLst>
                </a:gridCol>
                <a:gridCol w="5100000">
                  <a:extLst>
                    <a:ext uri="{9D8B030D-6E8A-4147-A177-3AD203B41FA5}">
                      <a16:colId xmlns:a16="http://schemas.microsoft.com/office/drawing/2014/main" val="20003"/>
                    </a:ext>
                  </a:extLst>
                </a:gridCol>
              </a:tblGrid>
              <a:tr h="635000">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أمر التحقق</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النتيجة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الحجم</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2EF2C2"/>
                          </a:solidFill>
                          <a:latin typeface="Readex Pro"/>
                          <a:ea typeface="Readex Pro"/>
                          <a:cs typeface="Readex Pro"/>
                          <a:sym typeface="Readex Pro"/>
                        </a:rPr>
                        <a:t>الاختبار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242759"/>
                    </a:solidFill>
                  </a:tcPr>
                </a:tc>
                <a:extLst>
                  <a:ext uri="{0D108BD9-81ED-4DB2-BD59-A6C34878D82A}">
                    <a16:rowId xmlns:a16="http://schemas.microsoft.com/office/drawing/2014/main" val="10000"/>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run eval</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99/99 ناجحة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102 تشغيل (34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التقييم الحي للسلامة والاتساق</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1"/>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run eval</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39/39 ناجحة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13 حالة × 3</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الحالات الحرجة للسلامة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2"/>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run eval</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0 مخالفة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380 حقلًا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مطابقة النص الشرعي حرفيًا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3"/>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run eval</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100% متسقة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34 حالة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اتساق المسار عبر المحاولات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test</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394/394 ناجحة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394 اختبارًا</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اختبارات الوحدة والتكامل</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run e2e</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109/109 ناجحة</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109 اختبارات</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الاختبارات الطرفية في المتصفح</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r h="520700">
                <a:tc>
                  <a:txBody>
                    <a:bodyPr/>
                    <a:lstStyle/>
                    <a:p>
                      <a:pPr marL="0" marR="0" lvl="0" indent="0" algn="r" rtl="0">
                        <a:lnSpc>
                          <a:spcPct val="100000"/>
                        </a:lnSpc>
                        <a:spcBef>
                          <a:spcPts val="0"/>
                        </a:spcBef>
                        <a:spcAft>
                          <a:spcPts val="0"/>
                        </a:spcAft>
                        <a:buClr>
                          <a:srgbClr val="000000"/>
                        </a:buClr>
                        <a:buSzPts val="2250"/>
                        <a:buFont typeface="Arial"/>
                        <a:buNone/>
                      </a:pPr>
                      <a:r>
                        <a:rPr lang="en-US" sz="2250" b="0" u="none" strike="noStrike" cap="none">
                          <a:solidFill>
                            <a:srgbClr val="F2F4FF"/>
                          </a:solidFill>
                          <a:latin typeface="Readex Pro"/>
                          <a:ea typeface="Readex Pro"/>
                          <a:cs typeface="Readex Pro"/>
                          <a:sym typeface="Readex Pro"/>
                        </a:rPr>
                        <a:t>npm test</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كلها ببصمة ومرجع</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177 نصًا من 7 مصادر</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F2F4FF"/>
                          </a:solidFill>
                          <a:latin typeface="Readex Pro"/>
                          <a:ea typeface="Readex Pro"/>
                          <a:cs typeface="Readex Pro"/>
                          <a:sym typeface="Readex Pro"/>
                        </a:rPr>
                        <a:t>المحتوى المنشور الموثّق</a:t>
                      </a:r>
                      <a:endParaRPr/>
                    </a:p>
                  </a:txBody>
                  <a:tcPr marL="91450" marR="91450" marT="45725" marB="45725" anchor="ctr">
                    <a:lnL w="9525" cap="flat" cmpd="sng">
                      <a:solidFill>
                        <a:srgbClr val="323D68"/>
                      </a:solidFill>
                      <a:prstDash val="solid"/>
                      <a:round/>
                      <a:headEnd type="none" w="sm" len="sm"/>
                      <a:tailEnd type="none" w="sm" len="sm"/>
                    </a:lnL>
                    <a:lnR w="9525" cap="flat" cmpd="sng">
                      <a:solidFill>
                        <a:srgbClr val="323D68"/>
                      </a:solidFill>
                      <a:prstDash val="solid"/>
                      <a:round/>
                      <a:headEnd type="none" w="sm" len="sm"/>
                      <a:tailEnd type="none" w="sm" len="sm"/>
                    </a:lnR>
                    <a:lnT w="9525" cap="flat" cmpd="sng">
                      <a:solidFill>
                        <a:srgbClr val="323D68"/>
                      </a:solidFill>
                      <a:prstDash val="solid"/>
                      <a:round/>
                      <a:headEnd type="none" w="sm" len="sm"/>
                      <a:tailEnd type="none" w="sm" len="sm"/>
                    </a:lnT>
                    <a:lnB w="9525" cap="flat" cmpd="sng">
                      <a:solidFill>
                        <a:srgbClr val="323D68"/>
                      </a:solidFill>
                      <a:prstDash val="solid"/>
                      <a:round/>
                      <a:headEnd type="none" w="sm" len="sm"/>
                      <a:tailEnd type="none" w="sm" len="sm"/>
                    </a:lnB>
                    <a:solidFill>
                      <a:srgbClr val="161D48"/>
                    </a:solidFill>
                  </a:tcPr>
                </a:tc>
                <a:extLst>
                  <a:ext uri="{0D108BD9-81ED-4DB2-BD59-A6C34878D82A}">
                    <a16:rowId xmlns:a16="http://schemas.microsoft.com/office/drawing/2014/main" val="10004"/>
                  </a:ext>
                </a:extLst>
              </a:tr>
            </a:tbl>
          </a:graphicData>
        </a:graphic>
      </p:graphicFrame>
      <p:sp>
        <p:nvSpPr>
          <p:cNvPr id="644" name="Google Shape;644;p17"/>
          <p:cNvSpPr txBox="1">
            <a:spLocks noGrp="1"/>
          </p:cNvSpPr>
          <p:nvPr>
            <p:ph type="body" idx="3"/>
          </p:nvPr>
        </p:nvSpPr>
        <p:spPr>
          <a:xfrm>
            <a:off x="1409700" y="8810625"/>
            <a:ext cx="15430500" cy="457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CBCFE6"/>
                </a:solidFill>
                <a:latin typeface="Readex Pro"/>
                <a:ea typeface="Readex Pro"/>
                <a:cs typeface="Readex Pro"/>
                <a:sym typeface="Readex Pro"/>
              </a:rPr>
              <a:t>الاختبارات الطرفية: 109 نُفّذت ونجحت على الحاسوب والجوال ومع تقليل الحركة؛ و5 مستثناة بالتصميم</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21</a:t>
            </a:fld>
            <a:endParaRPr/>
          </a:p>
        </p:txBody>
      </p:sp>
      <p:graphicFrame>
        <p:nvGraphicFramePr>
          <p:cNvPr id="731" name="Google Shape;731;p21"/>
          <p:cNvGraphicFramePr/>
          <p:nvPr/>
        </p:nvGraphicFramePr>
        <p:xfrm>
          <a:off x="1714500" y="3905250"/>
          <a:ext cx="15430500" cy="4635500"/>
        </p:xfrm>
        <a:graphic>
          <a:graphicData uri="http://schemas.openxmlformats.org/drawingml/2006/table">
            <a:tbl>
              <a:tblPr>
                <a:noFill/>
                <a:tableStyleId>{B8ED9858-D163-4338-9E88-1F424354888F}</a:tableStyleId>
              </a:tblPr>
              <a:tblGrid>
                <a:gridCol w="1900000">
                  <a:extLst>
                    <a:ext uri="{9D8B030D-6E8A-4147-A177-3AD203B41FA5}">
                      <a16:colId xmlns:a16="http://schemas.microsoft.com/office/drawing/2014/main" val="20000"/>
                    </a:ext>
                  </a:extLst>
                </a:gridCol>
                <a:gridCol w="7250500">
                  <a:extLst>
                    <a:ext uri="{9D8B030D-6E8A-4147-A177-3AD203B41FA5}">
                      <a16:colId xmlns:a16="http://schemas.microsoft.com/office/drawing/2014/main" val="20001"/>
                    </a:ext>
                  </a:extLst>
                </a:gridCol>
                <a:gridCol w="1500000">
                  <a:extLst>
                    <a:ext uri="{9D8B030D-6E8A-4147-A177-3AD203B41FA5}">
                      <a16:colId xmlns:a16="http://schemas.microsoft.com/office/drawing/2014/main" val="20002"/>
                    </a:ext>
                  </a:extLst>
                </a:gridCol>
                <a:gridCol w="4780000">
                  <a:extLst>
                    <a:ext uri="{9D8B030D-6E8A-4147-A177-3AD203B41FA5}">
                      <a16:colId xmlns:a16="http://schemas.microsoft.com/office/drawing/2014/main" val="20003"/>
                    </a:ext>
                  </a:extLst>
                </a:gridCol>
              </a:tblGrid>
              <a:tr h="635000">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الشرائح</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أين تجدونه في طمأنينة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الوزن</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1" u="none" strike="noStrike" cap="none">
                          <a:solidFill>
                            <a:srgbClr val="6150EA"/>
                          </a:solidFill>
                          <a:latin typeface="Readex Pro"/>
                          <a:ea typeface="Readex Pro"/>
                          <a:cs typeface="Readex Pro"/>
                          <a:sym typeface="Readex Pro"/>
                        </a:rPr>
                        <a:t>المعيار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E0D9FB"/>
                    </a:solidFill>
                  </a:tcPr>
                </a:tc>
                <a:extLst>
                  <a:ext uri="{0D108BD9-81ED-4DB2-BD59-A6C34878D82A}">
                    <a16:rowId xmlns:a16="http://schemas.microsoft.com/office/drawing/2014/main" val="10000"/>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4، 5، 9</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ذكاء يفهم ويوجّه، وخادم يقرر، ورحلة بلا نموذج</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25%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جودة الحل التقني وتوظيف الذكاء الاصطناعي</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1"/>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6، 10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99/99 تشغيل، و0 من 380 نص مولَّد، وامتناع وإحالة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15%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الموثوقية والسلامة العلمية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2"/>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3، 13</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من التجربة إلى موضوع يختاره المستخدم</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15%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الابتكار والقيمة المضافة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3"/>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8</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عربية أولًا، جوال، تقليل الحركة، بلا حساب</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10%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تجربة المستفيد والتواصل والإتاحة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7، 12</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رحلة كاملة إلى معرفة موثّقة، دون تصنيف المستخدم</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20%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تحقيق النفع وفق معيار نجاح المسار</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9، 14</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تكلفة تجربة 0–9 دولارات، وصيانة وأدوار محددة</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10%</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واقعية التشغيل والاستكمال</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r h="571500">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11</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كل رقم بأمر يعيد إنتاجه من المستودع</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5%</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tc>
                  <a:txBody>
                    <a:bodyPr/>
                    <a:lstStyle/>
                    <a:p>
                      <a:pPr marL="0" marR="0" lvl="0" indent="0" algn="r" rtl="1">
                        <a:lnSpc>
                          <a:spcPct val="100000"/>
                        </a:lnSpc>
                        <a:spcBef>
                          <a:spcPts val="0"/>
                        </a:spcBef>
                        <a:spcAft>
                          <a:spcPts val="0"/>
                        </a:spcAft>
                        <a:buClr>
                          <a:srgbClr val="000000"/>
                        </a:buClr>
                        <a:buSzPts val="2250"/>
                        <a:buFont typeface="Arial"/>
                        <a:buNone/>
                      </a:pPr>
                      <a:r>
                        <a:rPr lang="ar-SA" sz="2250" b="0" u="none" strike="noStrike" cap="none">
                          <a:solidFill>
                            <a:srgbClr val="12183F"/>
                          </a:solidFill>
                          <a:latin typeface="Readex Pro"/>
                          <a:ea typeface="Readex Pro"/>
                          <a:cs typeface="Readex Pro"/>
                          <a:sym typeface="Readex Pro"/>
                        </a:rPr>
                        <a:t>وضوح العرض وإتاحة التحقق</a:t>
                      </a:r>
                      <a:endParaRPr/>
                    </a:p>
                  </a:txBody>
                  <a:tcPr marL="91450" marR="91450" marT="45725" marB="45725" anchor="ctr">
                    <a:lnL w="9525" cap="flat" cmpd="sng">
                      <a:solidFill>
                        <a:srgbClr val="E0D9FB"/>
                      </a:solidFill>
                      <a:prstDash val="solid"/>
                      <a:round/>
                      <a:headEnd type="none" w="sm" len="sm"/>
                      <a:tailEnd type="none" w="sm" len="sm"/>
                    </a:lnL>
                    <a:lnR w="9525" cap="flat" cmpd="sng">
                      <a:solidFill>
                        <a:srgbClr val="E0D9FB"/>
                      </a:solidFill>
                      <a:prstDash val="solid"/>
                      <a:round/>
                      <a:headEnd type="none" w="sm" len="sm"/>
                      <a:tailEnd type="none" w="sm" len="sm"/>
                    </a:lnR>
                    <a:lnT w="9525" cap="flat" cmpd="sng">
                      <a:solidFill>
                        <a:srgbClr val="E0D9FB"/>
                      </a:solidFill>
                      <a:prstDash val="solid"/>
                      <a:round/>
                      <a:headEnd type="none" w="sm" len="sm"/>
                      <a:tailEnd type="none" w="sm" len="sm"/>
                    </a:lnT>
                    <a:lnB w="9525" cap="flat" cmpd="sng">
                      <a:solidFill>
                        <a:srgbClr val="E0D9FB"/>
                      </a:solidFill>
                      <a:prstDash val="solid"/>
                      <a:round/>
                      <a:headEnd type="none" w="sm" len="sm"/>
                      <a:tailEnd type="none" w="sm" len="sm"/>
                    </a:lnB>
                    <a:solidFill>
                      <a:srgbClr val="FAF9FF"/>
                    </a:solidFill>
                  </a:tcPr>
                </a:tc>
                <a:extLst>
                  <a:ext uri="{0D108BD9-81ED-4DB2-BD59-A6C34878D82A}">
                    <a16:rowId xmlns:a16="http://schemas.microsoft.com/office/drawing/2014/main" val="10004"/>
                  </a:ext>
                </a:extLst>
              </a:tr>
            </a:tbl>
          </a:graphicData>
        </a:graphic>
      </p:graphicFrame>
      <p:sp>
        <p:nvSpPr>
          <p:cNvPr id="732" name="Google Shape;732;p21"/>
          <p:cNvSpPr txBox="1">
            <a:spLocks noGrp="1"/>
          </p:cNvSpPr>
          <p:nvPr>
            <p:ph type="body" idx="1"/>
          </p:nvPr>
        </p:nvSpPr>
        <p:spPr>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pPr>
            <a:r>
              <a:rPr lang="ar-SA" sz="1800" b="0">
                <a:solidFill>
                  <a:srgbClr val="6150EA"/>
                </a:solidFill>
                <a:latin typeface="Readex Pro"/>
                <a:ea typeface="Readex Pro"/>
                <a:cs typeface="Readex Pro"/>
                <a:sym typeface="Readex Pro"/>
              </a:rPr>
              <a:t>معايير التحكيم</a:t>
            </a:r>
            <a:endParaRPr/>
          </a:p>
        </p:txBody>
      </p:sp>
      <p:sp>
        <p:nvSpPr>
          <p:cNvPr id="733" name="Google Shape;733;p21"/>
          <p:cNvSpPr txBox="1">
            <a:spLocks noGrp="1"/>
          </p:cNvSpPr>
          <p:nvPr>
            <p:ph type="title"/>
          </p:nvPr>
        </p:nvSpPr>
        <p:spPr>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pPr>
            <a:r>
              <a:rPr lang="ar-SA" sz="4500" b="1">
                <a:solidFill>
                  <a:srgbClr val="12183F"/>
                </a:solidFill>
                <a:latin typeface="Readex Pro"/>
                <a:ea typeface="Readex Pro"/>
                <a:cs typeface="Readex Pro"/>
                <a:sym typeface="Readex Pro"/>
              </a:rPr>
              <a:t>معايير التحكيم في طمأنينة</a:t>
            </a:r>
            <a:endParaRPr/>
          </a:p>
        </p:txBody>
      </p:sp>
      <p:sp>
        <p:nvSpPr>
          <p:cNvPr id="734" name="Google Shape;734;p21"/>
          <p:cNvSpPr txBox="1">
            <a:spLocks noGrp="1"/>
          </p:cNvSpPr>
          <p:nvPr>
            <p:ph type="body" idx="2"/>
          </p:nvPr>
        </p:nvSpPr>
        <p:spPr>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pPr>
            <a:r>
              <a:rPr lang="ar-SA" sz="2250" b="0">
                <a:solidFill>
                  <a:srgbClr val="4A5590"/>
                </a:solidFill>
                <a:latin typeface="Readex Pro"/>
                <a:ea typeface="Readex Pro"/>
                <a:cs typeface="Readex Pro"/>
                <a:sym typeface="Readex Pro"/>
              </a:rPr>
              <a:t>كل معيار ووزنه من 100 نقطة، والدليل عليه، والشريحة التي تعرضه</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2987</Words>
  <Application>Microsoft Office PowerPoint</Application>
  <PresentationFormat>Custom</PresentationFormat>
  <Paragraphs>493</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Readex Pro SemiBold</vt:lpstr>
      <vt:lpstr>Readex Pro Light</vt:lpstr>
      <vt:lpstr>Arial</vt:lpstr>
      <vt:lpstr>Readex Pro</vt:lpstr>
      <vt:lpstr>Urbanist</vt:lpstr>
      <vt:lpstr>Readex Pro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[اسم المشروع]</vt:lpstr>
      <vt:lpstr>محتويات العرض</vt:lpstr>
      <vt:lpstr>[عنوان القسم]</vt:lpstr>
      <vt:lpstr>[عنوان الشريحة]</vt:lpstr>
      <vt:lpstr>[عنوان النص]</vt:lpstr>
      <vt:lpstr>[عنوان يشرح الصورة]</vt:lpstr>
      <vt:lpstr>[عنوان يشرح الصورة المربعة]</vt:lpstr>
      <vt:lpstr>[الأثر أو المؤشرات]</vt:lpstr>
      <vt:lpstr>[رسالة رئيسية تريد أن يتذكرها الجمهور]</vt:lpstr>
      <vt:lpstr>[عنوان الجدول أو المقارنة]</vt:lpstr>
      <vt:lpstr>[خطة التنفيذ]</vt:lpstr>
      <vt:lpstr>فريق العمل</vt:lpstr>
      <vt:lpstr>[عنوان الشريحة الفاتحة]</vt:lpstr>
      <vt:lpstr>[عنوان الجدول التفصيلي]</vt:lpstr>
      <vt:lpstr>[عنوان المقارنة بالأعمدة]</vt:lpstr>
      <vt:lpstr>[عنوان التوزيع النسبي]</vt:lpstr>
      <vt:lpstr>[آلية عمل الحل]</vt:lpstr>
      <vt:lpstr>[عنوان يشرح الصورة]</vt:lpstr>
      <vt:lpstr>[معرض الصور أو الواجهات]</vt:lpstr>
      <vt:lpstr>[عناصر الحل]</vt:lpstr>
      <vt:lpstr>[مقارنة خيارين]</vt:lpstr>
      <vt:lpstr>PowerPoint Presentation</vt:lpstr>
      <vt:lpstr>PowerPoint Presentation</vt:lpstr>
      <vt:lpstr>شكراً لكم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منال الغامدي</cp:lastModifiedBy>
  <cp:revision>1</cp:revision>
  <dcterms:modified xsi:type="dcterms:W3CDTF">2026-10-06T06:20:14Z</dcterms:modified>
</cp:coreProperties>
</file>